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</a:rPr>
              <a:t>Department of Modeling &amp; Simulation  ·  Old Dominion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Learning LLVM Pass Sequences
via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 i="0">
                <a:solidFill>
                  <a:srgbClr val="56D3A0"/>
                </a:solidFill>
              </a:rPr>
              <a:t>with Autoregressive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Evan 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D6E8"/>
                </a:solidFill>
              </a:rPr>
              <a:t>eblac013@odu.edu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4A9EFF"/>
                </a:solidFill>
              </a:rPr>
              <a:t>Reinforcement Learning  ·  LLVM  ·  Pass Ordering  ·  PPO  ·  Transformer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Background: LLVM, IR, and Optimization Passes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15568"/>
            <a:ext cx="2286000" cy="10515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15568"/>
            <a:ext cx="2286000" cy="310896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152144"/>
            <a:ext cx="21762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C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" y="1481328"/>
            <a:ext cx="21762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CCD6E8"/>
                </a:solidFill>
              </a:rPr>
              <a:t>.c file
platform-agnostic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3472" y="1499616"/>
            <a:ext cx="2194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115568"/>
            <a:ext cx="2286000" cy="10515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80360" y="1115568"/>
            <a:ext cx="2286000" cy="310896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152144"/>
            <a:ext cx="21762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LLVM 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4" y="1481328"/>
            <a:ext cx="21762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CCD6E8"/>
                </a:solidFill>
              </a:rPr>
              <a:t>typed SSA
platform-independent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99616"/>
            <a:ext cx="2194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79" y="1115568"/>
            <a:ext cx="2286000" cy="10515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79" y="1115568"/>
            <a:ext cx="2286000" cy="310896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3" y="1152144"/>
            <a:ext cx="21762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Optimized 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5543" y="1481328"/>
            <a:ext cx="21762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CCD6E8"/>
                </a:solidFill>
              </a:rPr>
              <a:t>pass pipeline
applied by opt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1" y="1499616"/>
            <a:ext cx="219456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999" y="1115568"/>
            <a:ext cx="2286000" cy="10515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999" y="1115568"/>
            <a:ext cx="2286000" cy="310896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3" y="1152144"/>
            <a:ext cx="21762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Native Binary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3" y="1481328"/>
            <a:ext cx="21762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CCD6E8"/>
                </a:solidFill>
              </a:rPr>
              <a:t>machine code
for target 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9" y="2221992"/>
            <a:ext cx="21945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88AACC"/>
                </a:solidFill>
              </a:rPr>
              <a:t>clang -O3
-Xclang -disable-llvm-optzns
-emit-llvm -S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79" y="2221992"/>
            <a:ext cx="21945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88AACC"/>
                </a:solidFill>
              </a:rPr>
              <a:t>opt --passes=
"inline,sroa,mem2reg,..."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2221992"/>
            <a:ext cx="21945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88AACC"/>
                </a:solidFill>
              </a:rPr>
              <a:t>clang -O3
-Xclang -disable-llvm-passes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798064"/>
            <a:ext cx="5074920" cy="349300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52928"/>
            <a:ext cx="4892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What is LLVM IR?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236976"/>
            <a:ext cx="4892040" cy="2926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Platform-independent intermediate representation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Static Single Assignment (SSA) form: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Every variable defined exactly once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phi nodes merge values from different paths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Typed: i32, float, ptr, vectors, structs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Explicit control-flow graph (basic blocks + branches)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Close to machine code but still target-agnostic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Right level for optimization: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High enough to reason about semantics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Low enough to see memory, loops, calls directly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798064"/>
            <a:ext cx="3931920" cy="3493008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2852928"/>
            <a:ext cx="3749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56D3A0"/>
                </a:solidFill>
              </a:rPr>
              <a:t>Example: array_sum  (before passes)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3200400"/>
            <a:ext cx="3840480" cy="2999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A8D8A8"/>
                </a:solidFill>
              </a:rPr>
              <a:t>define i32 @sum(ptr %arr, i32 %n) {
entry:
  %res = alloca i32          ; stack slot
  store i32 0, ptr %res
  br label %loop
loop:
  %i = phi i32 [0,%entry],[%i2,%loop]
  %p = getelementptr i32,ptr %arr, i32 %i
  %v = load i32, ptr %p
  %s = load i32, ptr %res
  %s2 = add i32 %s, %v
  store i32 %s2, ptr %res    ; mem2reg promotes
  %i2 = add i32 %i, 1
  %done = icmp eq i32 %i2, %n
  br i1 %done, label %exit, label %loop
exit:
  %r = load i32, ptr %res
  ret i32 %r
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98064"/>
            <a:ext cx="2331720" cy="349300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2852928"/>
            <a:ext cx="2148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After mem2reg + instcombine: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200400"/>
            <a:ext cx="2212848" cy="2999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A8D8FF"/>
                </a:solidFill>
              </a:rPr>
              <a:t>define i32 @sum(ptr %arr,
               i32 %n) {
entry:
  br label %loop
loop:
  %i = phi i32 [0,%e],[%i2,%l]
  %s = phi i32 [0,%e],[%s2,%l]
  %p = gep i32,ptr %arr,%i
  %v = load i32, ptr %p
  %s2 = add i32 %s, %v
  %i2 = add i32 %i, 1
  %ok = icmp ne i32 %i2, %n
  br i1 %ok, %l, %exit
exit:
  ret i32 %s2
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Motivation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6400800" cy="51206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LLVM exposes hundreds of individual optimization passes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inlining, vectorization, loop unrolling, dead-code elim, …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Order matters: inline before const-prop → more constants to fold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-O</a:t>
            </a:r>
            <a:r>
              <a:rPr sz="1700" b="0" i="0">
                <a:solidFill>
                  <a:srgbClr val="FFD75E"/>
                </a:solidFill>
              </a:rPr>
              <a:t>3</a:t>
            </a:r>
            <a:r>
              <a:rPr sz="1700" b="0" i="0">
                <a:solidFill>
                  <a:srgbClr val="CCD6E8"/>
                </a:solidFill>
              </a:rPr>
              <a:t> uses a fixed pipeline tuned for the average program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Suboptimal for any specific program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Finding the best pipeline is NP-hard (phase-ordering problem)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▸ </a:t>
            </a:r>
            <a:r>
              <a:rPr sz="1700" b="0" i="0">
                <a:solidFill>
                  <a:srgbClr val="CCD6E8"/>
                </a:solidFill>
              </a:rPr>
              <a:t>ML offers a principled alternative: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Map IR features → pass choices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Train on real execution-time feedback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CCD6E8"/>
                </a:solidFill>
              </a:rPr>
              <a:t>  • </a:t>
            </a:r>
            <a:r>
              <a:rPr sz="1700" b="0" i="0">
                <a:solidFill>
                  <a:srgbClr val="CCD6E8"/>
                </a:solidFill>
              </a:rPr>
              <a:t>Generalise to unseen programs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188720"/>
            <a:ext cx="4754880" cy="5029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137160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56D3A0"/>
                </a:solidFill>
              </a:rPr>
              <a:t>The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828800"/>
            <a:ext cx="44805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Beat -O3 on individual programs by learning a per-program pass sequence.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10896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56D3A0"/>
                </a:solidFill>
              </a:rPr>
              <a:t>Prior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566160"/>
            <a:ext cx="4480560" cy="23774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AutoPhase — LSTM + PPO, targets IR size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CompilerGym — standard RL env for LLVM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MLGO — learned inlining at Google scale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MILEPOST — nearest-neighbour on static features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Our focus: wall-clock speedup, offline corpus + autoregressive policy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MDP Formulation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611880" cy="512064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361188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3429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State  sₜ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290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48-dim IR delta vector  fₜ ∈ ℝ⁴⁸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11680"/>
            <a:ext cx="3429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CCD6E8"/>
                </a:solidFill>
              </a:rPr>
              <a:t>3 chunk-pairs × 16 dims each: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3172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56D3A0"/>
                </a:solidFill>
              </a:rPr>
              <a:t>Opcode categories (12):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24328"/>
            <a:ext cx="3337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memory · int-arith · float-arith · bitwise · compare · 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62656"/>
            <a:ext cx="3337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call · control · phi/select · vector · block-boundary · other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33756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56D3A0"/>
                </a:solidFill>
              </a:rPr>
              <a:t>Metadata rates (4):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30168"/>
            <a:ext cx="3337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tbaa · llvm.loop · alias.scope · noalias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950208"/>
            <a:ext cx="342900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023360"/>
            <a:ext cx="34290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Δ = chunk(c+1) − chunk(c)  for c ∈ {0,1,2}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407408"/>
            <a:ext cx="3429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Invariant to function size; responds to
loop-rotate, licm, sroa structural shifts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097280"/>
            <a:ext cx="3840480" cy="512064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0" y="1097280"/>
            <a:ext cx="3840480" cy="45720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143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Action  aₜ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1645920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29 total:  28 passes  +  1 Stop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029968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Example passes: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2340864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inline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340864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removes call overhead; exposes callee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2606040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sroa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606040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scalar replace aggregates → registers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871216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mem2reg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2871216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alloca → SSA  (prerequisite for most)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136391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instcombine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3136391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fold/simplify instruction patterns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401568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simplifycfg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401568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clean dead blocks, merge branches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666744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loop-rotate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666744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canonicalize loops for LICM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931920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licm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931920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hoist loop-invariant code 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197096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loop-unroll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4197096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replicate loop body N times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462272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gvn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462272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global value numbering / CSE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27448"/>
            <a:ext cx="11155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56D3A0"/>
                </a:solidFill>
              </a:rPr>
              <a:t>Stop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4727448"/>
            <a:ext cx="2514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1">
                <a:solidFill>
                  <a:srgbClr val="CCD6E8"/>
                </a:solidFill>
              </a:rPr>
              <a:t>terminate early → compile binary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1097280"/>
            <a:ext cx="3730752" cy="512064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1097280"/>
            <a:ext cx="3730752" cy="457200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1143000"/>
            <a:ext cx="3547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Reward  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1645920"/>
            <a:ext cx="35478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Terminal speedup vs -O3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2029968"/>
            <a:ext cx="3547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5E"/>
                </a:solidFill>
              </a:rPr>
              <a:t>r = (t_O3 − t_policy) / t_O3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450592"/>
            <a:ext cx="354787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56D3A0"/>
                </a:solidFill>
              </a:rPr>
              <a:t>Positive = faster than -O3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779776"/>
            <a:ext cx="3456432" cy="281635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834640"/>
            <a:ext cx="3291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4A9EFF"/>
                </a:solidFill>
              </a:rPr>
              <a:t>Concrete example — fft: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182112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</a:rPr>
              <a:t>t_O3  = 46,509 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3493008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</a:rPr>
              <a:t>t_policy = 41,852 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3822191"/>
            <a:ext cx="3273552" cy="27432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3895344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 = (46,509 − 41,852) / 46,509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4242816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= 4,657 / 46,509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4590288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56D3A0"/>
                </a:solidFill>
              </a:rPr>
              <a:t>  = +10.0%  speedup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5047488"/>
            <a:ext cx="3547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Trimmed mean · 201 iterations · 5 warm-up
CLOCK_MONOTONIC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Dataset &amp;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950k random sequences · 38 benchmarks · bench-cache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Training Landscape — Bench-Cache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931920" cy="54406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61288"/>
            <a:ext cx="37490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</a:rPr>
              <a:t>Bench-Cache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91056"/>
            <a:ext cx="3749039" cy="51206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7335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Total 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7335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950,000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139696"/>
            <a:ext cx="3749039" cy="512064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21991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Benchmarks in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221991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688336"/>
            <a:ext cx="3749039" cy="51206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7063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Training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77063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236976"/>
            <a:ext cx="3749039" cy="512064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Sequences / fn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31927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25,000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85615"/>
            <a:ext cx="3749039" cy="51206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67911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Sequence lengths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867911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1 – 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334256"/>
            <a:ext cx="3749039" cy="512064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1655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Pass menu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41655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28 + Stop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82896"/>
            <a:ext cx="3749039" cy="512064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96519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Baselines per 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496519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-O0, -O2, -O3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31536"/>
            <a:ext cx="3749039" cy="512064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13832"/>
            <a:ext cx="1920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Cache format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51383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on-disk key-value</a:t>
            </a:r>
          </a:p>
        </p:txBody>
      </p:sp>
      <p:pic>
        <p:nvPicPr>
          <p:cNvPr id="31" name="Picture 30" descr="ceiling_g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97280"/>
            <a:ext cx="3931920" cy="6186718"/>
          </a:xfrm>
          <a:prstGeom prst="rect">
            <a:avLst/>
          </a:prstGeom>
        </p:spPr>
      </p:pic>
      <p:pic>
        <p:nvPicPr>
          <p:cNvPr id="32" name="Picture 31" descr="seq_length_by_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097280"/>
            <a:ext cx="3657600" cy="22534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Benchmark Pool &amp; Training Benchmark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074920" cy="1874519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Pool: </a:t>
            </a:r>
            <a:r>
              <a:rPr sz="1600" b="0" i="0">
                <a:solidFill>
                  <a:srgbClr val="FFD75E"/>
                </a:solidFill>
              </a:rPr>
              <a:t>38</a:t>
            </a:r>
            <a:r>
              <a:rPr sz="1600" b="0" i="0">
                <a:solidFill>
                  <a:srgbClr val="CCD6E8"/>
                </a:solidFill>
              </a:rPr>
              <a:t> self-contained C benchmarks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Sorting, numerical, data structures, codecs, recursive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FFD75E"/>
                </a:solidFill>
              </a:rPr>
              <a:t>25,000</a:t>
            </a:r>
            <a:r>
              <a:rPr sz="1600" b="0" i="0">
                <a:solidFill>
                  <a:srgbClr val="CCD6E8"/>
                </a:solidFill>
              </a:rPr>
              <a:t> random sequences per benchmark → ~</a:t>
            </a:r>
            <a:r>
              <a:rPr sz="1600" b="0" i="0">
                <a:solidFill>
                  <a:srgbClr val="FFD75E"/>
                </a:solidFill>
              </a:rPr>
              <a:t>950</a:t>
            </a:r>
            <a:r>
              <a:rPr sz="1600" b="0" i="0">
                <a:solidFill>
                  <a:srgbClr val="CCD6E8"/>
                </a:solidFill>
              </a:rPr>
              <a:t>k entries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FFD75E"/>
                </a:solidFill>
              </a:rPr>
              <a:t>3</a:t>
            </a:r>
            <a:r>
              <a:rPr sz="1600" b="0" i="0">
                <a:solidFill>
                  <a:srgbClr val="CCD6E8"/>
                </a:solidFill>
              </a:rPr>
              <a:t> baselines (-O</a:t>
            </a:r>
            <a:r>
              <a:rPr sz="1600" b="0" i="0">
                <a:solidFill>
                  <a:srgbClr val="FFD75E"/>
                </a:solidFill>
              </a:rPr>
              <a:t>0,</a:t>
            </a:r>
            <a:r>
              <a:rPr sz="1600" b="0" i="0">
                <a:solidFill>
                  <a:srgbClr val="CCD6E8"/>
                </a:solidFill>
              </a:rPr>
              <a:t> -O</a:t>
            </a:r>
            <a:r>
              <a:rPr sz="1600" b="0" i="0">
                <a:solidFill>
                  <a:srgbClr val="FFD75E"/>
                </a:solidFill>
              </a:rPr>
              <a:t>2,</a:t>
            </a:r>
            <a:r>
              <a:rPr sz="1600" b="0" i="0">
                <a:solidFill>
                  <a:srgbClr val="CCD6E8"/>
                </a:solidFill>
              </a:rPr>
              <a:t> -O</a:t>
            </a:r>
            <a:r>
              <a:rPr sz="1600" b="0" i="0">
                <a:solidFill>
                  <a:srgbClr val="FFD75E"/>
                </a:solidFill>
              </a:rPr>
              <a:t>3</a:t>
            </a:r>
            <a:r>
              <a:rPr sz="1600" b="0" i="0">
                <a:solidFill>
                  <a:srgbClr val="CCD6E8"/>
                </a:solidFill>
              </a:rPr>
              <a:t>) recorded per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090672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6 Training Benchmarks — selection criteria: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11296"/>
            <a:ext cx="5074920" cy="22860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At least one random sequence beats -O</a:t>
            </a:r>
            <a:r>
              <a:rPr sz="1500" b="0" i="0">
                <a:solidFill>
                  <a:srgbClr val="FFD75E"/>
                </a:solidFill>
              </a:rPr>
              <a:t>3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High CV across sequences (rugged reward landscape)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Diverse computational profiles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143000"/>
            <a:ext cx="6172200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252728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25272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O3 (ns)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25272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Best (ns)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252728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vs O3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252728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CV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1901952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11680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interpreter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01168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37,918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27,591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011680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0FF66"/>
                </a:solidFill>
              </a:rPr>
              <a:t>−27.2%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2011680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CCAA44"/>
                </a:solidFill>
              </a:rPr>
              <a:t>13.9%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0" y="2660904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770632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kmp_search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770632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886,408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770632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671,195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770632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DFA6A"/>
                </a:solidFill>
              </a:rPr>
              <a:t>−24.3%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70632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9D206"/>
                </a:solidFill>
              </a:rPr>
              <a:t>42.7%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3419856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3529584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polynomial_eval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529584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417,235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529584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364,235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529584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41E97B"/>
                </a:solidFill>
              </a:rPr>
              <a:t>−12.7%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3529584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46.0%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4178808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4288536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fft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88536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46,509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288536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41,852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288536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4DE57F"/>
                </a:solidFill>
              </a:rPr>
              <a:t>−10.0%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4288536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EEC816"/>
                </a:solidFill>
              </a:rPr>
              <a:t>35.5%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5000" y="4937759"/>
            <a:ext cx="6172200" cy="731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5047488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array_reduction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04748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97,184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5047488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92,619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5047488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66DD88"/>
                </a:solidFill>
              </a:rPr>
              <a:t> −4.7%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5047488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0C913"/>
                </a:solidFill>
              </a:rPr>
              <a:t>36.6%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0" y="5696712"/>
            <a:ext cx="617220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5806440"/>
            <a:ext cx="141732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binary_tree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580644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117,990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806440"/>
            <a:ext cx="12344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107,087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806440"/>
            <a:ext cx="10515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51E381"/>
                </a:solidFill>
              </a:rPr>
              <a:t> −9.2%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5806440"/>
            <a:ext cx="10058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D3B03A"/>
                </a:solidFill>
              </a:rPr>
              <a:t>18.4%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59893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56D3A0"/>
                </a:solidFill>
              </a:rPr>
              <a:t>Green = speedup magnitude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989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FFD75E"/>
                </a:solidFill>
              </a:rPr>
              <a:t>Yellow = landscape ruggedness (CV)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IR 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03520" cy="32004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Policy observes a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IR feature vector fₜ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Split IR into C=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equal positional chunks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Per chunk: opcode histogram (</a:t>
            </a:r>
            <a:r>
              <a:rPr sz="1500" b="0" i="0">
                <a:solidFill>
                  <a:srgbClr val="FFD75E"/>
                </a:solidFill>
              </a:rPr>
              <a:t>12</a:t>
            </a:r>
            <a:r>
              <a:rPr sz="1500" b="0" i="0">
                <a:solidFill>
                  <a:srgbClr val="CCD6E8"/>
                </a:solidFill>
              </a:rPr>
              <a:t> categories) + metadata rates (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kinds)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categories: memory, int-arith, float-arith, bitwise, compare, cast,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call, control, phi/select, vector, block-boundary, other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metadata: tbaa, llvm.loop, alias.scope, noalias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adjacent-chunk deltas → 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× </a:t>
            </a:r>
            <a:r>
              <a:rPr sz="1500" b="0" i="0">
                <a:solidFill>
                  <a:srgbClr val="FFD75E"/>
                </a:solidFill>
              </a:rPr>
              <a:t>16</a:t>
            </a:r>
            <a:r>
              <a:rPr sz="1500" b="0" i="0">
                <a:solidFill>
                  <a:srgbClr val="CCD6E8"/>
                </a:solidFill>
              </a:rPr>
              <a:t> =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vector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Key properties: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Invariant to function size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Responds to loop-rotate, licm, sroa — invisible to global counts</a:t>
            </a:r>
          </a:p>
        </p:txBody>
      </p:sp>
      <p:pic>
        <p:nvPicPr>
          <p:cNvPr id="6" name="Picture 5" descr="features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6126480" cy="2166241"/>
          </a:xfrm>
          <a:prstGeom prst="rect">
            <a:avLst/>
          </a:prstGeom>
        </p:spPr>
      </p:pic>
      <p:pic>
        <p:nvPicPr>
          <p:cNvPr id="7" name="Picture 6" descr="features_m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931920"/>
            <a:ext cx="6126480" cy="38093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Pass Menu &amp; EDA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20116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28</a:t>
            </a:r>
            <a:r>
              <a:rPr sz="1500" b="0" i="0">
                <a:solidFill>
                  <a:srgbClr val="CCD6E8"/>
                </a:solidFill>
              </a:rPr>
              <a:t>-pass primary menu + Stop token (</a:t>
            </a:r>
            <a:r>
              <a:rPr sz="1500" b="0" i="0">
                <a:solidFill>
                  <a:srgbClr val="FFD75E"/>
                </a:solidFill>
              </a:rPr>
              <a:t>29</a:t>
            </a:r>
            <a:r>
              <a:rPr sz="1500" b="0" i="0">
                <a:solidFill>
                  <a:srgbClr val="CCD6E8"/>
                </a:solidFill>
              </a:rPr>
              <a:t> total)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Inclusion criteria: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Appears in -O</a:t>
            </a:r>
            <a:r>
              <a:rPr sz="1500" b="0" i="0">
                <a:solidFill>
                  <a:srgbClr val="FFD75E"/>
                </a:solidFill>
              </a:rPr>
              <a:t>3</a:t>
            </a:r>
            <a:r>
              <a:rPr sz="1500" b="0" i="0">
                <a:solidFill>
                  <a:srgbClr val="CCD6E8"/>
                </a:solidFill>
              </a:rPr>
              <a:t> inner loop or is a prerequisite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Demonstrable impact on C compute code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Covers a distinct optimization category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LLVM </a:t>
            </a:r>
            <a:r>
              <a:rPr sz="1500" b="0" i="0">
                <a:solidFill>
                  <a:srgbClr val="FFD75E"/>
                </a:solidFill>
              </a:rPr>
              <a:t>20</a:t>
            </a:r>
            <a:r>
              <a:rPr sz="1500" b="0" i="0">
                <a:solidFill>
                  <a:srgbClr val="CCD6E8"/>
                </a:solidFill>
              </a:rPr>
              <a:t> nesting handled transparently: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inline → cgscc(inline)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licm → loop-mssa(licm)  ·  loop-rotate → loop(loop-rotate)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46120"/>
            <a:ext cx="5394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Top passes by EDA analysis: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657600"/>
            <a:ext cx="5394960" cy="448056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13716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703320"/>
            <a:ext cx="16459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Top-Decile Enrich.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703320"/>
            <a:ext cx="18288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Geo-Mean Speedup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33087"/>
            <a:ext cx="539496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178807"/>
            <a:ext cx="13716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78807"/>
            <a:ext cx="16459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2.35×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178807"/>
            <a:ext cx="18288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1.26×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608576"/>
            <a:ext cx="5394960" cy="44805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654296"/>
            <a:ext cx="13716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simplifycfg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654296"/>
            <a:ext cx="16459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1.98×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654296"/>
            <a:ext cx="18288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1.12×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84064"/>
            <a:ext cx="5394960" cy="448056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9784"/>
            <a:ext cx="13716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sroa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129784"/>
            <a:ext cx="16459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1.87×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129784"/>
            <a:ext cx="18288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1.09×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559552"/>
            <a:ext cx="5394960" cy="44805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605272"/>
            <a:ext cx="13716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mem2reg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605272"/>
            <a:ext cx="164592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1.76×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605272"/>
            <a:ext cx="1828800" cy="356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D75E"/>
                </a:solidFill>
              </a:rPr>
              <a:t>1.08×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94360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inline is the top pass-enabler: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Enrichment </a:t>
            </a:r>
            <a:r>
              <a:rPr sz="1500" b="0" i="0">
                <a:solidFill>
                  <a:srgbClr val="FFD75E"/>
                </a:solidFill>
              </a:rPr>
              <a:t>2.35×</a:t>
            </a:r>
            <a:r>
              <a:rPr sz="1500" b="0" i="0">
                <a:solidFill>
                  <a:srgbClr val="CCD6E8"/>
                </a:solidFill>
              </a:rPr>
              <a:t> = in top-decile sequences at </a:t>
            </a:r>
            <a:r>
              <a:rPr sz="1500" b="0" i="0">
                <a:solidFill>
                  <a:srgbClr val="FFD75E"/>
                </a:solidFill>
              </a:rPr>
              <a:t>2.35×</a:t>
            </a:r>
            <a:r>
              <a:rPr sz="1500" b="0" i="0">
                <a:solidFill>
                  <a:srgbClr val="CCD6E8"/>
                </a:solidFill>
              </a:rPr>
              <a:t> baseline rate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Exposes callee bodies to const-prop, DCE, loop transforms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simplifycfg + sroa + mem</a:t>
            </a:r>
            <a:r>
              <a:rPr sz="1500" b="0" i="0">
                <a:solidFill>
                  <a:srgbClr val="FFD75E"/>
                </a:solidFill>
              </a:rPr>
              <a:t>2</a:t>
            </a:r>
            <a:r>
              <a:rPr sz="1500" b="0" i="0">
                <a:solidFill>
                  <a:srgbClr val="CCD6E8"/>
                </a:solidFill>
              </a:rPr>
              <a:t>reg unlock downstream analyses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SSA promotion (mem</a:t>
            </a:r>
            <a:r>
              <a:rPr sz="1500" b="0" i="0">
                <a:solidFill>
                  <a:srgbClr val="FFD75E"/>
                </a:solidFill>
              </a:rPr>
              <a:t>2</a:t>
            </a:r>
            <a:r>
              <a:rPr sz="1500" b="0" i="0">
                <a:solidFill>
                  <a:srgbClr val="CCD6E8"/>
                </a:solidFill>
              </a:rPr>
              <a:t>reg) required before most scalar optimizations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Sequence length distribution ~uniform across </a:t>
            </a:r>
            <a:r>
              <a:rPr sz="1500" b="0" i="0">
                <a:solidFill>
                  <a:srgbClr val="FFD75E"/>
                </a:solidFill>
              </a:rPr>
              <a:t>1</a:t>
            </a:r>
            <a:r>
              <a:rPr sz="1500" b="0" i="0">
                <a:solidFill>
                  <a:srgbClr val="CCD6E8"/>
                </a:solidFill>
              </a:rPr>
              <a:t>–</a:t>
            </a:r>
            <a:r>
              <a:rPr sz="1500" b="0" i="0">
                <a:solidFill>
                  <a:srgbClr val="FFD75E"/>
                </a:solidFill>
              </a:rPr>
              <a:t>20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Best-found median length: </a:t>
            </a:r>
            <a:r>
              <a:rPr sz="1500" b="0" i="0">
                <a:solidFill>
                  <a:srgbClr val="FFD75E"/>
                </a:solidFill>
              </a:rPr>
              <a:t>17</a:t>
            </a:r>
            <a:r>
              <a:rPr sz="1500" b="0" i="0">
                <a:solidFill>
                  <a:srgbClr val="CCD6E8"/>
                </a:solidFill>
              </a:rPr>
              <a:t>–</a:t>
            </a:r>
            <a:r>
              <a:rPr sz="1500" b="0" i="0">
                <a:solidFill>
                  <a:srgbClr val="FFD75E"/>
                </a:solidFill>
              </a:rPr>
              <a:t>18</a:t>
            </a:r>
            <a:r>
              <a:rPr sz="1500" b="0" i="0">
                <a:solidFill>
                  <a:srgbClr val="CCD6E8"/>
                </a:solidFill>
              </a:rPr>
              <a:t> (no cap spike → K=</a:t>
            </a:r>
            <a:r>
              <a:rPr sz="1500" b="0" i="0">
                <a:solidFill>
                  <a:srgbClr val="FFD75E"/>
                </a:solidFill>
              </a:rPr>
              <a:t>20</a:t>
            </a:r>
            <a:r>
              <a:rPr sz="1500" b="0" i="0">
                <a:solidFill>
                  <a:srgbClr val="CCD6E8"/>
                </a:solidFill>
              </a:rPr>
              <a:t> sufficient)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Bench-cache lookup rate grows during training: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Policy re-generates previously benchmarked sequences → instant reward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Policy Architecture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Auto-TFX  ·  Auto-GRU  ·  PPO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Policy Architecture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577840" cy="42062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133856"/>
            <a:ext cx="55046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Auto-TFX  (Causal Transformer)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1609344"/>
            <a:ext cx="978408" cy="8229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55064"/>
            <a:ext cx="868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W·fₜ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075688"/>
            <a:ext cx="868680" cy="3456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IR proj
48→128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35024" y="1609344"/>
            <a:ext cx="978408" cy="822960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655064"/>
            <a:ext cx="868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E[a₀]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075688"/>
            <a:ext cx="868680" cy="3456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1609344"/>
            <a:ext cx="978408" cy="822960"/>
          </a:xfrm>
          <a:prstGeom prst="rect">
            <a:avLst/>
          </a:prstGeom>
          <a:solidFill>
            <a:srgbClr val="2A7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3" y="1655064"/>
            <a:ext cx="868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E[a₁]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303" y="2075688"/>
            <a:ext cx="868680" cy="3456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9856" y="1609344"/>
            <a:ext cx="978408" cy="8229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664208"/>
            <a:ext cx="8686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CD6E8"/>
                </a:solidFill>
              </a:rPr>
              <a:t>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62272" y="1609344"/>
            <a:ext cx="978408" cy="822960"/>
          </a:xfrm>
          <a:prstGeom prst="rect">
            <a:avLst/>
          </a:prstGeom>
          <a:solidFill>
            <a:srgbClr val="1A6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1655064"/>
            <a:ext cx="868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E[aₜ₋₁]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2075688"/>
            <a:ext cx="868680" cy="3456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action
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487168"/>
            <a:ext cx="2743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full cross-step attention  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" y="2779776"/>
            <a:ext cx="5376672" cy="73152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825496"/>
            <a:ext cx="5266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Transformer Encoder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3200400"/>
            <a:ext cx="5266944" cy="307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</a:rPr>
              <a:t>2 layers · 4 heads · d=128 · FF 256 · dropout 0.1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566160"/>
            <a:ext cx="18288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token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3566160"/>
            <a:ext cx="18288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↓  token 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" y="3840480"/>
            <a:ext cx="2450592" cy="86868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886200"/>
            <a:ext cx="2340864" cy="4343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Value 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4329683"/>
            <a:ext cx="2340864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reads token 0
→  V(sₜ)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840480"/>
            <a:ext cx="2450592" cy="868680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886200"/>
            <a:ext cx="2340864" cy="4343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Policy 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45536" y="4329683"/>
            <a:ext cx="2340864" cy="3648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reads token t
→  logits (29)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" y="4773168"/>
            <a:ext cx="5376672" cy="676656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00600"/>
            <a:ext cx="5230368" cy="621792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No causal mask — decode 1 step at a time; full sequence always visible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Batched replay: K forward passes (one per step position) vs N×K naïve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7648" y="1097280"/>
            <a:ext cx="5577840" cy="420624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1133856"/>
            <a:ext cx="55046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Auto-GRU  (Recurrent)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1591056"/>
            <a:ext cx="5394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A9EFF"/>
                </a:solidFill>
              </a:rPr>
              <a:t>Step 0 — seed hidden state from initial IR: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4224" y="1847088"/>
            <a:ext cx="1115568" cy="768096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1892807"/>
            <a:ext cx="1005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f₀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2286000"/>
            <a:ext cx="1005840" cy="322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IR feat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34656" y="21762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1847088"/>
            <a:ext cx="1417320" cy="768096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1901952"/>
            <a:ext cx="1307592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Linear
project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36024" y="21762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65208" y="1847088"/>
            <a:ext cx="1993392" cy="768096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20072" y="1892807"/>
            <a:ext cx="18836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h₀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20072" y="2286000"/>
            <a:ext cx="1883664" cy="322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initial hidden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2743200"/>
            <a:ext cx="5394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A9EFF"/>
                </a:solidFill>
              </a:rPr>
              <a:t>Step t — recurrent update: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64224" y="2999232"/>
            <a:ext cx="1115568" cy="65836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9088" y="3044951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fₜ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3383279"/>
            <a:ext cx="1005840" cy="27651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IR feat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64224" y="3712463"/>
            <a:ext cx="1115568" cy="658368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9088" y="3758183"/>
            <a:ext cx="10058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aₜ₋₁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9088" y="4096511"/>
            <a:ext cx="1005840" cy="27651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0F172A"/>
                </a:solidFill>
              </a:rPr>
              <a:t>action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18120" y="2999232"/>
            <a:ext cx="1417320" cy="1371600"/>
          </a:xfrm>
          <a:prstGeom prst="rect">
            <a:avLst/>
          </a:prstGeom>
          <a:solidFill>
            <a:srgbClr val="1E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72984" y="3054096"/>
            <a:ext cx="1307592" cy="1261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GRU
Cell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324612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16368" y="385876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90304" y="365760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19488" y="3346704"/>
            <a:ext cx="1956816" cy="73152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74352" y="3392424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</a:rPr>
              <a:t>hₜ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74352" y="3767328"/>
            <a:ext cx="1847088" cy="307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0F172A"/>
                </a:solidFill>
              </a:rPr>
              <a:t>hidden state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18120" y="4425696"/>
            <a:ext cx="1417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A040"/>
                </a:solidFill>
              </a:rPr>
              <a:t>↑ hₜ₋₁  (recurrent)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64224" y="4645152"/>
            <a:ext cx="5394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→  output heads: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64224" y="4901184"/>
            <a:ext cx="2450592" cy="841248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4946904"/>
            <a:ext cx="2340864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Value Head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19088" y="5376672"/>
            <a:ext cx="2340864" cy="353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0F172A"/>
                </a:solidFill>
              </a:rPr>
              <a:t>→  V(sₜ)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61120" y="4901184"/>
            <a:ext cx="2450592" cy="841248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15984" y="4946904"/>
            <a:ext cx="2340864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Policy Head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15984" y="5376672"/>
            <a:ext cx="2340864" cy="353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0F172A"/>
                </a:solidFill>
              </a:rPr>
              <a:t>→  logits (29)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64224" y="5833872"/>
            <a:ext cx="5376672" cy="438912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7376" y="5852160"/>
            <a:ext cx="5230368" cy="402336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Recency bias: recent IR state has more influence — free inductive prior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Compresses full episode history into a fixed-width hidden vector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6345936"/>
            <a:ext cx="116403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CCD6E8"/>
                </a:solidFill>
              </a:rPr>
              <a:t>Both architectures re-encode current IR features fₜ at every step — neither operates on a stale snapshot.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Concrete Pass-Selection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1152144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1521440" cy="64008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07008"/>
            <a:ext cx="113385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D75E"/>
                </a:solidFill>
              </a:rPr>
              <a:t>Example: interpreter  ·  -O3 baseline = 37,275 ns  ·  Greedy policy result: ~27,183 ns  →  +27.1% speedup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83664"/>
            <a:ext cx="1783080" cy="34747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mem↑
call↑
ctrl↑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255264"/>
            <a:ext cx="1783080" cy="47548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5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remove call
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2263" y="3401568"/>
            <a:ext cx="1920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1883664"/>
            <a:ext cx="1783080" cy="347472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12848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8568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mem↑
cfg↑
int↓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7168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2848" y="3255264"/>
            <a:ext cx="1783080" cy="475488"/>
          </a:xfrm>
          <a:prstGeom prst="rect">
            <a:avLst/>
          </a:prstGeom>
          <a:solidFill>
            <a:srgbClr val="3A8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4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simplifycfg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9424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clean dead
blocks/branches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5072" y="3401568"/>
            <a:ext cx="1920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05655" y="1883664"/>
            <a:ext cx="1783080" cy="347472"/>
          </a:xfrm>
          <a:prstGeom prst="rect">
            <a:avLst/>
          </a:prstGeom>
          <a:solidFill>
            <a:srgbClr val="2AA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51375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05655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51375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mem↓↓
int↑
SSA↑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9975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05655" y="3255264"/>
            <a:ext cx="1783080" cy="475488"/>
          </a:xfrm>
          <a:prstGeom prst="rect">
            <a:avLst/>
          </a:prstGeom>
          <a:solidFill>
            <a:srgbClr val="2AA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1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sroa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05655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42231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stack→regs
(mem↓ heavy)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79" y="3401568"/>
            <a:ext cx="1920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98463" y="1883664"/>
            <a:ext cx="1783080" cy="347472"/>
          </a:xfrm>
          <a:prstGeom prst="rect">
            <a:avLst/>
          </a:prstGeom>
          <a:solidFill>
            <a:srgbClr val="5A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44183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98463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44183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mem≈0
consts
visible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3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98463" y="3255264"/>
            <a:ext cx="1783080" cy="475488"/>
          </a:xfrm>
          <a:prstGeom prst="rect">
            <a:avLst/>
          </a:prstGeom>
          <a:solidFill>
            <a:srgbClr val="5A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39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mem2reg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98463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39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alloca→SSA
promotes vals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7" y="3401568"/>
            <a:ext cx="1920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91271" y="1883664"/>
            <a:ext cx="1783080" cy="347472"/>
          </a:xfrm>
          <a:prstGeom prst="rect">
            <a:avLst/>
          </a:prstGeom>
          <a:solidFill>
            <a:srgbClr val="9A7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36992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Step 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91271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36992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stable
Δ small
/step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91271" y="3255264"/>
            <a:ext cx="1783080" cy="475488"/>
          </a:xfrm>
          <a:prstGeom prst="rect">
            <a:avLst/>
          </a:prstGeom>
          <a:solidFill>
            <a:srgbClr val="9A7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27847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instcombine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91271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27847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fold/simplify
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3495" y="3401568"/>
            <a:ext cx="1920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D6E8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84080" y="1883664"/>
            <a:ext cx="1783080" cy="347472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29800" y="1929384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5–19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84080" y="2258568"/>
            <a:ext cx="1783080" cy="694944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29800" y="230428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</a:rPr>
              <a:t>fₜ: minor
Δ /step
(safe)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2999232"/>
            <a:ext cx="12344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↓ picks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84080" y="3255264"/>
            <a:ext cx="1783080" cy="475488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20655" y="3300984"/>
            <a:ext cx="170992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instcombine
×15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84080" y="3767328"/>
            <a:ext cx="1783080" cy="62179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0655" y="3822191"/>
            <a:ext cx="1709928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safe: rarely
hurts, occ. wins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507992"/>
            <a:ext cx="11521440" cy="493776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" y="4507992"/>
            <a:ext cx="11521440" cy="54864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4590288"/>
            <a:ext cx="11338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Compile → benchmark  ·  measured = 27,183 ns  ·  r = (37,275 − 27,183) / 37,275 = +27.1% 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5120640"/>
            <a:ext cx="11521440" cy="969264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5175504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D75E"/>
                </a:solidFill>
              </a:rPr>
              <a:t>Why repeat instcombine?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5504688"/>
            <a:ext cx="5349240" cy="5486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</a:t>
            </a:r>
            <a:r>
              <a:rPr sz="1100" b="0" i="0">
                <a:solidFill>
                  <a:srgbClr val="CCD6E8"/>
                </a:solidFill>
              </a:rPr>
              <a:t>Q(Stop)=current speedup; Q(pass)=E[future] — uncertain, possibly higher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</a:t>
            </a:r>
            <a:r>
              <a:rPr sz="1100" b="0" i="0">
                <a:solidFill>
                  <a:srgbClr val="CCD6E8"/>
                </a:solidFill>
              </a:rPr>
              <a:t>Penalty p=</a:t>
            </a:r>
            <a:r>
              <a:rPr sz="1100" b="0" i="0">
                <a:solidFill>
                  <a:srgbClr val="FFD75E"/>
                </a:solidFill>
              </a:rPr>
              <a:t>0.025</a:t>
            </a:r>
            <a:r>
              <a:rPr sz="1100" b="0" i="0">
                <a:solidFill>
                  <a:srgbClr val="CCD6E8"/>
                </a:solidFill>
              </a:rPr>
              <a:t> per no-op is tiny vs ~</a:t>
            </a:r>
            <a:r>
              <a:rPr sz="1100" b="0" i="0">
                <a:solidFill>
                  <a:srgbClr val="FFD75E"/>
                </a:solidFill>
              </a:rPr>
              <a:t>28%</a:t>
            </a:r>
            <a:r>
              <a:rPr sz="1100" b="0" i="0">
                <a:solidFill>
                  <a:srgbClr val="CCD6E8"/>
                </a:solidFill>
              </a:rPr>
              <a:t> gain — rational to continue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0" y="5175504"/>
            <a:ext cx="5669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6D3A0"/>
                </a:solidFill>
              </a:rPr>
              <a:t>Why is inline so dominant?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0" y="5504688"/>
            <a:ext cx="5623560" cy="5486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interpreter has a tight bytecode dispatch loop — call overhead dominates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CCD6E8"/>
                </a:solidFill>
              </a:rPr>
              <a:t>▸ After inline: callee body visible → const-prop + DCE fire hard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PPO Training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166360" cy="26517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On-policy collect → update loop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Collect </a:t>
            </a:r>
            <a:r>
              <a:rPr sz="1500" b="0" i="0">
                <a:solidFill>
                  <a:srgbClr val="FFD75E"/>
                </a:solidFill>
              </a:rPr>
              <a:t>256</a:t>
            </a:r>
            <a:r>
              <a:rPr sz="1500" b="0" i="0">
                <a:solidFill>
                  <a:srgbClr val="CCD6E8"/>
                </a:solidFill>
              </a:rPr>
              <a:t> episodes/epoch (Rayon parallel)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FFD75E"/>
                </a:solidFill>
              </a:rPr>
              <a:t>4</a:t>
            </a:r>
            <a:r>
              <a:rPr sz="1500" b="0" i="0">
                <a:solidFill>
                  <a:srgbClr val="CCD6E8"/>
                </a:solidFill>
              </a:rPr>
              <a:t> PPO inner epochs on mini-batches of </a:t>
            </a:r>
            <a:r>
              <a:rPr sz="1500" b="0" i="0">
                <a:solidFill>
                  <a:srgbClr val="FFD75E"/>
                </a:solidFill>
              </a:rPr>
              <a:t>128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KL early-stop ≤ </a:t>
            </a:r>
            <a:r>
              <a:rPr sz="1500" b="0" i="0">
                <a:solidFill>
                  <a:srgbClr val="FFD75E"/>
                </a:solidFill>
              </a:rPr>
              <a:t>0.05</a:t>
            </a:r>
            <a:r>
              <a:rPr sz="1500" b="0" i="0">
                <a:solidFill>
                  <a:srgbClr val="CCD6E8"/>
                </a:solidFill>
              </a:rPr>
              <a:t> aborts inner loop if update too large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AdamW · cosine LR </a:t>
            </a:r>
            <a:r>
              <a:rPr sz="1500" b="0" i="0">
                <a:solidFill>
                  <a:srgbClr val="FFD75E"/>
                </a:solidFill>
              </a:rPr>
              <a:t>1</a:t>
            </a:r>
            <a:r>
              <a:rPr sz="1500" b="0" i="0">
                <a:solidFill>
                  <a:srgbClr val="CCD6E8"/>
                </a:solidFill>
              </a:rPr>
              <a:t>e</a:t>
            </a:r>
            <a:r>
              <a:rPr sz="1500" b="0" i="0">
                <a:solidFill>
                  <a:srgbClr val="FFD75E"/>
                </a:solidFill>
              </a:rPr>
              <a:t>-3</a:t>
            </a:r>
            <a:r>
              <a:rPr sz="1500" b="0" i="0">
                <a:solidFill>
                  <a:srgbClr val="CCD6E8"/>
                </a:solidFill>
              </a:rPr>
              <a:t> → ~</a:t>
            </a:r>
            <a:r>
              <a:rPr sz="1500" b="0" i="0">
                <a:solidFill>
                  <a:srgbClr val="FFD75E"/>
                </a:solidFill>
              </a:rPr>
              <a:t>0</a:t>
            </a:r>
            <a:r>
              <a:rPr sz="1500" b="0" i="0">
                <a:solidFill>
                  <a:srgbClr val="CCD6E8"/>
                </a:solidFill>
              </a:rPr>
              <a:t> over </a:t>
            </a:r>
            <a:r>
              <a:rPr sz="1500" b="0" i="0">
                <a:solidFill>
                  <a:srgbClr val="FFD75E"/>
                </a:solidFill>
              </a:rPr>
              <a:t>100</a:t>
            </a:r>
            <a:r>
              <a:rPr sz="1500" b="0" i="0">
                <a:solidFill>
                  <a:srgbClr val="CCD6E8"/>
                </a:solidFill>
              </a:rPr>
              <a:t> epochs · </a:t>
            </a:r>
            <a:r>
              <a:rPr sz="1500" b="0" i="0">
                <a:solidFill>
                  <a:srgbClr val="FFD75E"/>
                </a:solidFill>
              </a:rPr>
              <a:t>100</a:t>
            </a:r>
            <a:r>
              <a:rPr sz="1500" b="0" i="0">
                <a:solidFill>
                  <a:srgbClr val="CCD6E8"/>
                </a:solidFill>
              </a:rPr>
              <a:t> epochs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13632"/>
            <a:ext cx="51663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Hyperparameters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3159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3616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d_model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43616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0552" y="43159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43616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3616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9624" y="43159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43616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Heads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3616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773168"/>
            <a:ext cx="16916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48188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FF dim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48188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0552" y="4773168"/>
            <a:ext cx="16916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48188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8188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0.1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9624" y="4773168"/>
            <a:ext cx="16916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13632" y="48188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Horizon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48188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2303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2760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52760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30552" y="52303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52760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Ep/epoch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2760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256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9624" y="5230368"/>
            <a:ext cx="16916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13632" y="5276088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Mini-batch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5276088"/>
            <a:ext cx="6858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5E"/>
                </a:solidFill>
              </a:rPr>
              <a:t>128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1115568"/>
            <a:ext cx="60807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  =  −E[ L_clip ]  +  c_v · E[ L_value ]  −  c_e · E[ L_entropy 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1481328"/>
            <a:ext cx="6080760" cy="162763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06440" y="1481328"/>
            <a:ext cx="73152" cy="162763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536192"/>
            <a:ext cx="58704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A9EFF"/>
                </a:solidFill>
              </a:rPr>
              <a:t>CLIP Term  — policy gradient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47088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L_clip = min( ρₜ · Âₜ ,  clip(ρₜ, 1−ε, 1+ε) · Âₜ 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212848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ρₜ = π_θ(aₜ|sₜ) / π_old(aₜ|sₜ)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2212848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probability ratio new policy over old collection 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5237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Âₜ = Rₜ − V_θ(sₜ)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2523744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advantage: return minus value baseline, batch-normalised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61888" y="2834640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4A9EFF"/>
                </a:solidFill>
              </a:rPr>
              <a:t>ε = 0.2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2834640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clip threshold — hard limit on policy drift per gradient step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154680"/>
            <a:ext cx="6080760" cy="162763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3154680"/>
            <a:ext cx="73152" cy="1627632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0" y="3209544"/>
            <a:ext cx="58704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A040"/>
                </a:solidFill>
              </a:rPr>
              <a:t>Value Loss  —  c_v = 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520440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L_value = ( V_θ(sₜ) − Rₜ )²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3886200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V_θ(sₜ)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3886200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value head prediction (token 0 in TFX, hidden state hₜ in GRU)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61888" y="4197096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Rₜ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4197096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per-step return (episode or instruction-weighted formulation)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61888" y="4507992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A040"/>
                </a:solidFill>
              </a:rPr>
              <a:t>EV → 0.69/0.59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4507992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TFX/GRU episode EV at epoch 100; weighted runs reach 0.87/0.86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4828032"/>
            <a:ext cx="6080760" cy="1627632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06440" y="4828032"/>
            <a:ext cx="73152" cy="1627632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0" y="4882896"/>
            <a:ext cx="58704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56D3A0"/>
                </a:solidFill>
              </a:rPr>
              <a:t>Entropy Bonus  —  c_e = 0.03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5193792"/>
            <a:ext cx="5870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D75E"/>
                </a:solidFill>
              </a:rPr>
              <a:t>L_entropy = H( π_θ(·|sₜ) )   [Shannon entropy]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5559552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H(π)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5559552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spread over all 29 actions — prevents premature convergence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61888" y="5870448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c_e = 0.03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5870448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small enough not to dominate; large enough to prevent collapse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6181344"/>
            <a:ext cx="1417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56D3A0"/>
                </a:solidFill>
              </a:rPr>
              <a:t>KL ≤ 0.05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6181344"/>
            <a:ext cx="44074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per-mini-batch early-stop guard as additional safety net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Return Formulations  &amp;  Credit Assignment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394960" cy="26517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97280"/>
            <a:ext cx="539496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Episode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Rₜ = r  ∀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5212080" cy="13716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Terminal speedup assigned uniformly to all steps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Unbiased maximum-likelihood estimate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 assumptions about which steps were responsible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486400" cy="26517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1430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 i="0">
                <a:solidFill>
                  <a:srgbClr val="0F172A"/>
                </a:solidFill>
              </a:rPr>
              <a:t>Instruction-Weighted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Rₜ = r·|ΔIₜ|/Σ|ΔIₛ| + </a:t>
            </a:r>
            <a:r>
              <a:rPr sz="1300" b="0" i="0">
                <a:solidFill>
                  <a:srgbClr val="FFD75E"/>
                </a:solidFill>
              </a:rPr>
              <a:t>0.05</a:t>
            </a:r>
            <a:r>
              <a:rPr sz="1300" b="0" i="0">
                <a:solidFill>
                  <a:srgbClr val="FFFFFF"/>
                </a:solidFill>
              </a:rPr>
              <a:t>·sign(−ΔIₜ) − </a:t>
            </a:r>
            <a:r>
              <a:rPr sz="1300" b="0" i="0">
                <a:solidFill>
                  <a:srgbClr val="FFD75E"/>
                </a:solidFill>
              </a:rPr>
              <a:t>0.025</a:t>
            </a:r>
            <a:r>
              <a:rPr sz="1300" b="0" i="0">
                <a:solidFill>
                  <a:srgbClr val="FFFFFF"/>
                </a:solidFill>
              </a:rPr>
              <a:t>·</a:t>
            </a:r>
            <a:r>
              <a:rPr sz="1300" b="0" i="0">
                <a:solidFill>
                  <a:srgbClr val="FFD75E"/>
                </a:solidFill>
              </a:rPr>
              <a:t>𝟙</a:t>
            </a:r>
            <a:r>
              <a:rPr sz="1300" b="0" i="0">
                <a:solidFill>
                  <a:srgbClr val="FFFFFF"/>
                </a:solidFill>
              </a:rPr>
              <a:t>[noopₜ]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0280"/>
            <a:ext cx="5303520" cy="12801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Redistributes credit proportional to instruction reduction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No-op penalty </a:t>
            </a:r>
            <a:r>
              <a:rPr sz="1400" b="0" i="0">
                <a:solidFill>
                  <a:srgbClr val="FFD75E"/>
                </a:solidFill>
              </a:rPr>
              <a:t>0.025</a:t>
            </a:r>
            <a:r>
              <a:rPr sz="1400" b="0" i="0">
                <a:solidFill>
                  <a:srgbClr val="CCD6E8"/>
                </a:solidFill>
              </a:rPr>
              <a:t>; direction bonus </a:t>
            </a:r>
            <a:r>
              <a:rPr sz="1400" b="0" i="0">
                <a:solidFill>
                  <a:srgbClr val="FFD75E"/>
                </a:solidFill>
              </a:rPr>
              <a:t>0.05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Sum of first term = r (total reward conserved)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11338560" cy="1965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886200"/>
            <a:ext cx="11338560" cy="38404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CCD6E8"/>
                </a:solidFill>
              </a:rPr>
              <a:t>IR-Step Return  (Ablation)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43400"/>
            <a:ext cx="11155680" cy="12801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Per-step normalised instruction-count delta as reward — bypasses benchmarking entirely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Dense, low-noise signal: verifies model architecture + PPO loop independently of sparse runtime reward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Not evaluated as a policy; training results are an infrastructure verification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8932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CCD6E8"/>
                </a:solidFill>
              </a:rPr>
              <a:t>No-op threshold: |ΔI| &lt; 0.01 AND L1(Δfeatures) &lt; 0.05  (dual threshold handles loop-rotate/licm restructuring without instruction-count change)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CCD6E8"/>
                </a:solidFill>
              </a:rPr>
              <a:t>Auto-TFX + Episode Return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Auto-TFX + Episode Return — Training Curves</a:t>
            </a:r>
          </a:p>
        </p:txBody>
      </p:sp>
      <p:pic>
        <p:nvPicPr>
          <p:cNvPr id="5" name="Picture 4" descr="auto-tfx-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132320" cy="4486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143000"/>
            <a:ext cx="429768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Mean speedup: −</a:t>
            </a:r>
            <a:r>
              <a:rPr sz="1500" b="0" i="0">
                <a:solidFill>
                  <a:srgbClr val="FFD75E"/>
                </a:solidFill>
              </a:rPr>
              <a:t>0.40</a:t>
            </a:r>
            <a:r>
              <a:rPr sz="1500" b="0" i="0">
                <a:solidFill>
                  <a:srgbClr val="CCD6E8"/>
                </a:solidFill>
              </a:rPr>
              <a:t> → </a:t>
            </a:r>
            <a:r>
              <a:rPr sz="1500" b="0" i="0">
                <a:solidFill>
                  <a:srgbClr val="FFD75E"/>
                </a:solidFill>
              </a:rPr>
              <a:t>+0.091</a:t>
            </a:r>
            <a:r>
              <a:rPr sz="1500" b="0" i="0">
                <a:solidFill>
                  <a:srgbClr val="CCD6E8"/>
                </a:solidFill>
              </a:rPr>
              <a:t>  (EMA </a:t>
            </a:r>
            <a:r>
              <a:rPr sz="1500" b="0" i="0">
                <a:solidFill>
                  <a:srgbClr val="FFD75E"/>
                </a:solidFill>
              </a:rPr>
              <a:t>+0.080</a:t>
            </a:r>
            <a:r>
              <a:rPr sz="1500" b="0" i="0">
                <a:solidFill>
                  <a:srgbClr val="CCD6E8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Explained Variance reaches </a:t>
            </a:r>
            <a:r>
              <a:rPr sz="1500" b="0" i="0">
                <a:solidFill>
                  <a:srgbClr val="FFD75E"/>
                </a:solidFill>
              </a:rPr>
              <a:t>0.69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Value head learns accurate return predictions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FFD75E"/>
                </a:solidFill>
              </a:rPr>
              <a:t>48</a:t>
            </a:r>
            <a:r>
              <a:rPr sz="1500" b="0" i="0">
                <a:solidFill>
                  <a:srgbClr val="CCD6E8"/>
                </a:solidFill>
              </a:rPr>
              <a:t>-dim delta features sufficient for value function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Entropy: max → ~</a:t>
            </a:r>
            <a:r>
              <a:rPr sz="1500" b="0" i="0">
                <a:solidFill>
                  <a:srgbClr val="FFD75E"/>
                </a:solidFill>
              </a:rPr>
              <a:t>30%</a:t>
            </a:r>
            <a:r>
              <a:rPr sz="1500" b="0" i="0">
                <a:solidFill>
                  <a:srgbClr val="CCD6E8"/>
                </a:solidFill>
              </a:rPr>
              <a:t> of max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Progressive concentration, no collapse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No-op % stabilises ~</a:t>
            </a:r>
            <a:r>
              <a:rPr sz="1500" b="0" i="0">
                <a:solidFill>
                  <a:srgbClr val="FFD75E"/>
                </a:solidFill>
              </a:rPr>
              <a:t>30%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Policy learns to prefer impactful passes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interpreter and kmp_search lead per-function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Consistent with high random-search ceiling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Auto-TFX + Episode Return — Evaluation vs -O3</a:t>
            </a:r>
          </a:p>
        </p:txBody>
      </p:sp>
      <p:pic>
        <p:nvPicPr>
          <p:cNvPr id="5" name="Picture 4" descr="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6858000" cy="35192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60920" y="1143000"/>
            <a:ext cx="4663440" cy="64008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207008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1207008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rand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207008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rand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207008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greedy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1207008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samp best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819656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883664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array_red.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1883664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−0.795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1883664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883664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1883664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2496312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560320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binary_tree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560320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560320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2560320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3172968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236975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fft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36975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−0.547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236975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−0.033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3236975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6B6B"/>
                </a:solidFill>
              </a:rPr>
              <a:t>−0.016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3236975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3849624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3913632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interpreter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913632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−0.252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913632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+0.010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913632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3913632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4526280"/>
            <a:ext cx="4663440" cy="64008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4590288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kmp_search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590288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−0.101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590288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590288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4590288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+0.278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5202936"/>
            <a:ext cx="46634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5266944"/>
            <a:ext cx="13716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poly_eval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5266944"/>
            <a:ext cx="86868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−0.261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5266944"/>
            <a:ext cx="777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CD6E8"/>
                </a:solidFill>
              </a:rPr>
              <a:t>+0.120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5266944"/>
            <a:ext cx="7132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+0.031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5266944"/>
            <a:ext cx="8229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56D3A0"/>
                </a:solidFill>
              </a:rPr>
              <a:t>+0.149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5897880"/>
            <a:ext cx="4663440" cy="658368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0" y="596188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Greedy: 5/6 beat -O3 · mean +10.4% · sample-best all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Training Results — GRU Episode &amp; Weighted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577840" cy="365760"/>
          </a:xfrm>
          <a:prstGeom prst="rect">
            <a:avLst/>
          </a:prstGeom>
          <a:solidFill>
            <a:srgbClr val="56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133856"/>
            <a:ext cx="55046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Auto-GRU  +  Episode Return — Training</a:t>
            </a:r>
          </a:p>
        </p:txBody>
      </p:sp>
      <p:pic>
        <p:nvPicPr>
          <p:cNvPr id="7" name="Picture 6" descr="auto-gru-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99616"/>
            <a:ext cx="5577840" cy="35268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074920"/>
            <a:ext cx="5532120" cy="1417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Mean speedup −</a:t>
            </a:r>
            <a:r>
              <a:rPr sz="1200" b="0" i="0">
                <a:solidFill>
                  <a:srgbClr val="FFD75E"/>
                </a:solidFill>
              </a:rPr>
              <a:t>0.44</a:t>
            </a:r>
            <a:r>
              <a:rPr sz="1200" b="0" i="0">
                <a:solidFill>
                  <a:srgbClr val="CCD6E8"/>
                </a:solidFill>
              </a:rPr>
              <a:t> → </a:t>
            </a:r>
            <a:r>
              <a:rPr sz="1200" b="0" i="0">
                <a:solidFill>
                  <a:srgbClr val="FFD75E"/>
                </a:solidFill>
              </a:rPr>
              <a:t>+0.043</a:t>
            </a:r>
            <a:r>
              <a:rPr sz="1200" b="0" i="0">
                <a:solidFill>
                  <a:srgbClr val="CCD6E8"/>
                </a:solidFill>
              </a:rPr>
              <a:t>  (EMA </a:t>
            </a:r>
            <a:r>
              <a:rPr sz="1200" b="0" i="0">
                <a:solidFill>
                  <a:srgbClr val="FFD75E"/>
                </a:solidFill>
              </a:rPr>
              <a:t>+0.031</a:t>
            </a:r>
            <a:r>
              <a:rPr sz="1200" b="0" i="0">
                <a:solidFill>
                  <a:srgbClr val="CCD6E8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EV reaches </a:t>
            </a:r>
            <a:r>
              <a:rPr sz="1200" b="0" i="0">
                <a:solidFill>
                  <a:srgbClr val="FFD75E"/>
                </a:solidFill>
              </a:rPr>
              <a:t>0.59</a:t>
            </a:r>
            <a:r>
              <a:rPr sz="1200" b="0" i="0">
                <a:solidFill>
                  <a:srgbClr val="CCD6E8"/>
                </a:solidFill>
              </a:rPr>
              <a:t>  (slower than TFX, same qualitative trajectory)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No-op rate ~</a:t>
            </a:r>
            <a:r>
              <a:rPr sz="1200" b="0" i="0">
                <a:solidFill>
                  <a:srgbClr val="FFD75E"/>
                </a:solidFill>
              </a:rPr>
              <a:t>31%</a:t>
            </a:r>
            <a:r>
              <a:rPr sz="1200" b="0" i="0">
                <a:solidFill>
                  <a:srgbClr val="CCD6E8"/>
                </a:solidFill>
              </a:rPr>
              <a:t> — consistent with episode-return behaviour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Greedy eval mean: </a:t>
            </a:r>
            <a:r>
              <a:rPr sz="1200" b="0" i="0">
                <a:solidFill>
                  <a:srgbClr val="FFD75E"/>
                </a:solidFill>
              </a:rPr>
              <a:t>+11.4%</a:t>
            </a:r>
            <a:r>
              <a:rPr sz="1200" b="0" i="0">
                <a:solidFill>
                  <a:srgbClr val="CCD6E8"/>
                </a:solidFill>
              </a:rPr>
              <a:t> — comparable to Auto-TFX (</a:t>
            </a:r>
            <a:r>
              <a:rPr sz="1200" b="0" i="0">
                <a:solidFill>
                  <a:srgbClr val="FFD75E"/>
                </a:solidFill>
              </a:rPr>
              <a:t>+10.4%</a:t>
            </a:r>
            <a:r>
              <a:rPr sz="1200" b="0" i="0">
                <a:solidFill>
                  <a:srgbClr val="CCD6E8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833872" cy="365760"/>
          </a:xfrm>
          <a:prstGeom prst="rect">
            <a:avLst/>
          </a:prstGeom>
          <a:solidFill>
            <a:srgbClr val="FFD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133856"/>
            <a:ext cx="5760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</a:rPr>
              <a:t>Instruction-Weighted Return — Both Architectures</a:t>
            </a:r>
          </a:p>
        </p:txBody>
      </p:sp>
      <p:pic>
        <p:nvPicPr>
          <p:cNvPr id="11" name="Picture 10" descr="auto-tfx-weigh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99616"/>
            <a:ext cx="5833872" cy="368869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074920"/>
            <a:ext cx="5742432" cy="1417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TFX weighted: speedup → </a:t>
            </a:r>
            <a:r>
              <a:rPr sz="1200" b="0" i="0">
                <a:solidFill>
                  <a:srgbClr val="FFD75E"/>
                </a:solidFill>
              </a:rPr>
              <a:t>+0.012</a:t>
            </a:r>
            <a:r>
              <a:rPr sz="1200" b="0" i="0">
                <a:solidFill>
                  <a:srgbClr val="CCD6E8"/>
                </a:solidFill>
              </a:rPr>
              <a:t> (vs </a:t>
            </a:r>
            <a:r>
              <a:rPr sz="1200" b="0" i="0">
                <a:solidFill>
                  <a:srgbClr val="FFD75E"/>
                </a:solidFill>
              </a:rPr>
              <a:t>+0.091</a:t>
            </a:r>
            <a:r>
              <a:rPr sz="1200" b="0" i="0">
                <a:solidFill>
                  <a:srgbClr val="CCD6E8"/>
                </a:solidFill>
              </a:rPr>
              <a:t> episode);  EV = </a:t>
            </a:r>
            <a:r>
              <a:rPr sz="1200" b="0" i="0">
                <a:solidFill>
                  <a:srgbClr val="FFD75E"/>
                </a:solidFill>
              </a:rPr>
              <a:t>0.87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GRU weighted: speedup → </a:t>
            </a:r>
            <a:r>
              <a:rPr sz="1200" b="0" i="0">
                <a:solidFill>
                  <a:srgbClr val="FFD75E"/>
                </a:solidFill>
              </a:rPr>
              <a:t>+0.023</a:t>
            </a:r>
            <a:r>
              <a:rPr sz="1200" b="0" i="0">
                <a:solidFill>
                  <a:srgbClr val="CCD6E8"/>
                </a:solidFill>
              </a:rPr>
              <a:t> (vs </a:t>
            </a:r>
            <a:r>
              <a:rPr sz="1200" b="0" i="0">
                <a:solidFill>
                  <a:srgbClr val="FFD75E"/>
                </a:solidFill>
              </a:rPr>
              <a:t>+0.043</a:t>
            </a:r>
            <a:r>
              <a:rPr sz="1200" b="0" i="0">
                <a:solidFill>
                  <a:srgbClr val="CCD6E8"/>
                </a:solidFill>
              </a:rPr>
              <a:t> episode);  EV = </a:t>
            </a:r>
            <a:r>
              <a:rPr sz="1200" b="0" i="0">
                <a:solidFill>
                  <a:srgbClr val="FFD75E"/>
                </a:solidFill>
              </a:rPr>
              <a:t>0.86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Higher EV but lower speedup — proxy misalignment (IR ≠ runtime)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No-op rate ~</a:t>
            </a:r>
            <a:r>
              <a:rPr sz="1200" b="0" i="0">
                <a:solidFill>
                  <a:srgbClr val="FFD75E"/>
                </a:solidFill>
              </a:rPr>
              <a:t>40</a:t>
            </a:r>
            <a:r>
              <a:rPr sz="1200" b="0" i="0">
                <a:solidFill>
                  <a:srgbClr val="CCD6E8"/>
                </a:solidFill>
              </a:rPr>
              <a:t>–</a:t>
            </a:r>
            <a:r>
              <a:rPr sz="1200" b="0" i="0">
                <a:solidFill>
                  <a:srgbClr val="FFD75E"/>
                </a:solidFill>
              </a:rPr>
              <a:t>41%</a:t>
            </a:r>
            <a:r>
              <a:rPr sz="1200" b="0" i="0">
                <a:solidFill>
                  <a:srgbClr val="CCD6E8"/>
                </a:solidFill>
              </a:rPr>
              <a:t> — elevated vs episode runs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Weighted Evaluation &amp; IR-Reduction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520440" cy="320040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133856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Auto-TFX  Weighted  (mean greedy +6.5%)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3520440" cy="42976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904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</a:rPr>
              <a:t>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490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greedy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79" y="1490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samp best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019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47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array_red.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47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6B6B"/>
                </a:solidFill>
              </a:rPr>
              <a:t>−0.081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1947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6B6B"/>
                </a:solidFill>
              </a:rPr>
              <a:t>−0.053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3591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4048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binary_tree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048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24048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+0.081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8163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620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8620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28620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735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3192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interpreter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3192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+0.307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79" y="33192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+0.308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7307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7764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kmp_search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776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79" y="3776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1879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233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poly_eval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233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79" y="4233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1097280"/>
            <a:ext cx="3520440" cy="320040"/>
          </a:xfrm>
          <a:prstGeom prst="rect">
            <a:avLst/>
          </a:prstGeom>
          <a:solidFill>
            <a:srgbClr val="FF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68496" y="1133856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Auto-GRU  Weighted  (mean greedy +9.2%)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1444752"/>
            <a:ext cx="3520440" cy="42976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77639" y="14904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</a:rPr>
              <a:t>Function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1490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greedy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79" y="1490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samp best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19019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77639" y="1947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array_red.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60" y="1947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6B6B"/>
                </a:solidFill>
              </a:rPr>
              <a:t>−0.039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1947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6B6B"/>
                </a:solidFill>
              </a:rPr>
              <a:t>−0.011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31920" y="23591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77639" y="24048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binary_tree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94960" y="24048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79" y="24048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+0.058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31920" y="28163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77639" y="28620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8620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79" y="28620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+0.030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31920" y="32735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3192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interpreter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33192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+0.306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79" y="33192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+0.306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31920" y="3730752"/>
            <a:ext cx="3520440" cy="429768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39" y="37764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kmp_search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94960" y="3776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79" y="37764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+0.107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31920" y="4187952"/>
            <a:ext cx="3520440" cy="4297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77639" y="4233672"/>
            <a:ext cx="13716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poly_eval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4233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+0.118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5079" y="4233672"/>
            <a:ext cx="914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56D3A0"/>
                </a:solidFill>
              </a:rPr>
              <a:t>+0.133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35240" y="1097280"/>
            <a:ext cx="4343400" cy="3657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71816" y="1133856"/>
            <a:ext cx="42702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IR Reduction vs Runtime Speedup (ir_corr)</a:t>
            </a:r>
          </a:p>
        </p:txBody>
      </p:sp>
      <p:pic>
        <p:nvPicPr>
          <p:cNvPr id="67" name="Picture 66" descr="ir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99616"/>
            <a:ext cx="4343400" cy="2895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7635240" y="4919472"/>
            <a:ext cx="4343400" cy="16459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Top </a:t>
            </a:r>
            <a:r>
              <a:rPr sz="1200" b="0" i="0">
                <a:solidFill>
                  <a:srgbClr val="FFD75E"/>
                </a:solidFill>
              </a:rPr>
              <a:t>20</a:t>
            </a:r>
            <a:r>
              <a:rPr sz="1200" b="0" i="0">
                <a:solidFill>
                  <a:srgbClr val="CCD6E8"/>
                </a:solidFill>
              </a:rPr>
              <a:t> IR-step sequences all from fft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IR reduction: </a:t>
            </a:r>
            <a:r>
              <a:rPr sz="1200" b="0" i="0">
                <a:solidFill>
                  <a:srgbClr val="FFD75E"/>
                </a:solidFill>
              </a:rPr>
              <a:t>65</a:t>
            </a:r>
            <a:r>
              <a:rPr sz="1200" b="0" i="0">
                <a:solidFill>
                  <a:srgbClr val="CCD6E8"/>
                </a:solidFill>
              </a:rPr>
              <a:t>–</a:t>
            </a:r>
            <a:r>
              <a:rPr sz="1200" b="0" i="0">
                <a:solidFill>
                  <a:srgbClr val="FFD75E"/>
                </a:solidFill>
              </a:rPr>
              <a:t>67%</a:t>
            </a:r>
            <a:r>
              <a:rPr sz="1200" b="0" i="0">
                <a:solidFill>
                  <a:srgbClr val="CCD6E8"/>
                </a:solidFill>
              </a:rPr>
              <a:t>  (near-vertical cluster)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Runtime speedup: −</a:t>
            </a:r>
            <a:r>
              <a:rPr sz="1200" b="0" i="0">
                <a:solidFill>
                  <a:srgbClr val="FFD75E"/>
                </a:solidFill>
              </a:rPr>
              <a:t>8%</a:t>
            </a:r>
            <a:r>
              <a:rPr sz="1200" b="0" i="0">
                <a:solidFill>
                  <a:srgbClr val="CCD6E8"/>
                </a:solidFill>
              </a:rPr>
              <a:t> to −</a:t>
            </a:r>
            <a:r>
              <a:rPr sz="1200" b="0" i="0">
                <a:solidFill>
                  <a:srgbClr val="FFD75E"/>
                </a:solidFill>
              </a:rPr>
              <a:t>35%</a:t>
            </a:r>
            <a:r>
              <a:rPr sz="1200" b="0" i="0">
                <a:solidFill>
                  <a:srgbClr val="CCD6E8"/>
                </a:solidFill>
              </a:rPr>
              <a:t>  — all negative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Conclusion: IR reduction ≠ runtime improvement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  • </a:t>
            </a:r>
            <a:r>
              <a:rPr sz="1200" b="0" i="0">
                <a:solidFill>
                  <a:srgbClr val="CCD6E8"/>
                </a:solidFill>
              </a:rPr>
              <a:t>Stripping fft IR removes vectorization opportunities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Explains why weighted return underperforms episode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Results Summary &amp; Pool-Training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115568"/>
            <a:ext cx="7406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Architecture × Return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36192"/>
            <a:ext cx="7406640" cy="47548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591056"/>
            <a:ext cx="2011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91056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591056"/>
            <a:ext cx="16459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Greedy mean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591056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</a:rPr>
              <a:t>Train EV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39112"/>
            <a:ext cx="7406640" cy="475488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" y="2093976"/>
            <a:ext cx="2011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Auto-TFX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093976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Episode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093976"/>
            <a:ext cx="16459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+10.4%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93976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D75E"/>
                </a:solidFill>
              </a:rPr>
              <a:t>0.69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42032"/>
            <a:ext cx="7406640" cy="475488"/>
          </a:xfrm>
          <a:prstGeom prst="rect">
            <a:avLst/>
          </a:prstGeom>
          <a:solidFill>
            <a:srgbClr val="0A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59" y="2596896"/>
            <a:ext cx="2011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Auto-GRU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596896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Episode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596896"/>
            <a:ext cx="16459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56D3A0"/>
                </a:solidFill>
              </a:rPr>
              <a:t>+11.4%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596896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D75E"/>
                </a:solidFill>
              </a:rPr>
              <a:t>0.59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44952"/>
            <a:ext cx="7406640" cy="475488"/>
          </a:xfrm>
          <a:prstGeom prst="rect">
            <a:avLst/>
          </a:prstGeom>
          <a:solidFill>
            <a:srgbClr val="22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9" y="3099816"/>
            <a:ext cx="2011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Auto-TFX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099816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Weighted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3099816"/>
            <a:ext cx="16459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A040"/>
                </a:solidFill>
              </a:rPr>
              <a:t>+6.5%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099816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D75E"/>
                </a:solidFill>
              </a:rPr>
              <a:t>0.87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547872"/>
            <a:ext cx="7406640" cy="475488"/>
          </a:xfrm>
          <a:prstGeom prst="rect">
            <a:avLst/>
          </a:prstGeom>
          <a:solidFill>
            <a:srgbClr val="22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59" y="3602736"/>
            <a:ext cx="2011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Auto-GRU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602736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Weighted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59" y="3602736"/>
            <a:ext cx="16459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A040"/>
                </a:solidFill>
              </a:rPr>
              <a:t>+9.2%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02736"/>
            <a:ext cx="1143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D75E"/>
                </a:solidFill>
              </a:rPr>
              <a:t>0.86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4114800"/>
            <a:ext cx="7406640" cy="19202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Episode return outperforms weighted for both architectures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CCD6E8"/>
                </a:solidFill>
              </a:rPr>
              <a:t>Weighted EV higher but speedup lower — value head learns IR targets, not speedup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GRU slightly ahead of TFX in greedy eval despite lower training mean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CCD6E8"/>
                </a:solidFill>
              </a:rPr>
              <a:t>Best-checkpoint selection can capture an early peak epoch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Architecture gap &lt; return-formulation gap — both arches broadly comparable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1115568"/>
            <a:ext cx="4023360" cy="34747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46136" y="1152144"/>
            <a:ext cx="395020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Pool Training (38 functions) — Failed</a:t>
            </a:r>
          </a:p>
        </p:txBody>
      </p:sp>
      <p:pic>
        <p:nvPicPr>
          <p:cNvPr id="34" name="Picture 33" descr="auto-tfx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499616"/>
            <a:ext cx="4023360" cy="254392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909560" y="4919472"/>
            <a:ext cx="4023360" cy="16459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Trained on all </a:t>
            </a:r>
            <a:r>
              <a:rPr sz="1200" b="0" i="0">
                <a:solidFill>
                  <a:srgbClr val="FFD75E"/>
                </a:solidFill>
              </a:rPr>
              <a:t>38</a:t>
            </a:r>
            <a:r>
              <a:rPr sz="1200" b="0" i="0">
                <a:solidFill>
                  <a:srgbClr val="CCD6E8"/>
                </a:solidFill>
              </a:rPr>
              <a:t> functions simultaneously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EV = </a:t>
            </a:r>
            <a:r>
              <a:rPr sz="1200" b="0" i="0">
                <a:solidFill>
                  <a:srgbClr val="FFD75E"/>
                </a:solidFill>
              </a:rPr>
              <a:t>0.065</a:t>
            </a:r>
            <a:r>
              <a:rPr sz="1200" b="0" i="0">
                <a:solidFill>
                  <a:srgbClr val="CCD6E8"/>
                </a:solidFill>
              </a:rPr>
              <a:t> at epoch </a:t>
            </a:r>
            <a:r>
              <a:rPr sz="1200" b="0" i="0">
                <a:solidFill>
                  <a:srgbClr val="FFD75E"/>
                </a:solidFill>
              </a:rPr>
              <a:t>100</a:t>
            </a:r>
            <a:r>
              <a:rPr sz="1200" b="0" i="0">
                <a:solidFill>
                  <a:srgbClr val="CCD6E8"/>
                </a:solidFill>
              </a:rPr>
              <a:t> — value head never converged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Greedy eval: all </a:t>
            </a:r>
            <a:r>
              <a:rPr sz="1200" b="0" i="0">
                <a:solidFill>
                  <a:srgbClr val="FFD75E"/>
                </a:solidFill>
              </a:rPr>
              <a:t>38</a:t>
            </a:r>
            <a:r>
              <a:rPr sz="1200" b="0" i="0">
                <a:solidFill>
                  <a:srgbClr val="CCD6E8"/>
                </a:solidFill>
              </a:rPr>
              <a:t> functions negative (mean −</a:t>
            </a:r>
            <a:r>
              <a:rPr sz="1200" b="0" i="0">
                <a:solidFill>
                  <a:srgbClr val="FFD75E"/>
                </a:solidFill>
              </a:rPr>
              <a:t>2.50</a:t>
            </a:r>
            <a:r>
              <a:rPr sz="1200" b="0" i="0">
                <a:solidFill>
                  <a:srgbClr val="CCD6E8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Cause: too few episodes per function to build reward signal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CCD6E8"/>
                </a:solidFill>
              </a:rPr>
              <a:t>▸ </a:t>
            </a:r>
            <a:r>
              <a:rPr sz="1200" b="0" i="0">
                <a:solidFill>
                  <a:srgbClr val="CCD6E8"/>
                </a:solidFill>
              </a:rPr>
              <a:t>Key constraint: episodes per function, not total epochs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Benchmarking Harness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4A9EFF"/>
                </a:solidFill>
              </a:rPr>
              <a:t>Benchmarking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5394960" cy="21031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FFD75E"/>
                </a:solidFill>
              </a:rPr>
              <a:t>201</a:t>
            </a:r>
            <a:r>
              <a:rPr sz="1400" b="0" i="0">
                <a:solidFill>
                  <a:srgbClr val="CCD6E8"/>
                </a:solidFill>
              </a:rPr>
              <a:t> timed iterations per measurement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10%</a:t>
            </a:r>
            <a:r>
              <a:rPr sz="1400" b="0" i="0">
                <a:solidFill>
                  <a:srgbClr val="CCD6E8"/>
                </a:solidFill>
              </a:rPr>
              <a:t> trimmed mean — removes </a:t>
            </a:r>
            <a:r>
              <a:rPr sz="1400" b="0" i="0">
                <a:solidFill>
                  <a:srgbClr val="FFD75E"/>
                </a:solidFill>
              </a:rPr>
              <a:t>10</a:t>
            </a:r>
            <a:r>
              <a:rPr sz="1400" b="0" i="0">
                <a:solidFill>
                  <a:srgbClr val="CCD6E8"/>
                </a:solidFill>
              </a:rPr>
              <a:t> outliers each tail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5</a:t>
            </a:r>
            <a:r>
              <a:rPr sz="1400" b="0" i="0">
                <a:solidFill>
                  <a:srgbClr val="CCD6E8"/>
                </a:solidFill>
              </a:rPr>
              <a:t> warm-up runs before timing begins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CLOCK_MONOTONIC — monotonic wall-clock, nanosecond resolution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Serial baselines collected once under stable single-threaded conditions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Episode collection: parallelised across all CPU cores via Rayon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749039"/>
            <a:ext cx="5394960" cy="242316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03904"/>
            <a:ext cx="52120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56D3A0"/>
                </a:solidFill>
              </a:rPr>
              <a:t>Parallel Noise Characterisation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87952"/>
            <a:ext cx="5212080" cy="18288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bench-noise: run each binary solo then across </a:t>
            </a:r>
            <a:r>
              <a:rPr sz="1300" b="0" i="0">
                <a:solidFill>
                  <a:srgbClr val="FFD75E"/>
                </a:solidFill>
              </a:rPr>
              <a:t>16</a:t>
            </a:r>
            <a:r>
              <a:rPr sz="1300" b="0" i="0">
                <a:solidFill>
                  <a:srgbClr val="CCD6E8"/>
                </a:solidFill>
              </a:rPr>
              <a:t> Rayon workers simultaneously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Parallel overhead: small and consistent across all </a:t>
            </a:r>
            <a:r>
              <a:rPr sz="1300" b="0" i="0">
                <a:solidFill>
                  <a:srgbClr val="FFD75E"/>
                </a:solidFill>
              </a:rPr>
              <a:t>6</a:t>
            </a:r>
            <a:r>
              <a:rPr sz="1300" b="0" i="0">
                <a:solidFill>
                  <a:srgbClr val="CCD6E8"/>
                </a:solidFill>
              </a:rPr>
              <a:t> benchmarks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Noise margin </a:t>
            </a:r>
            <a:r>
              <a:rPr sz="1300" b="0" i="0">
                <a:solidFill>
                  <a:srgbClr val="FFD75E"/>
                </a:solidFill>
              </a:rPr>
              <a:t>1.01</a:t>
            </a:r>
            <a:r>
              <a:rPr sz="1300" b="0" i="0">
                <a:solidFill>
                  <a:srgbClr val="CCD6E8"/>
                </a:solidFill>
              </a:rPr>
              <a:t> on -O</a:t>
            </a:r>
            <a:r>
              <a:rPr sz="1300" b="0" i="0">
                <a:solidFill>
                  <a:srgbClr val="FFD75E"/>
                </a:solidFill>
              </a:rPr>
              <a:t>3</a:t>
            </a:r>
            <a:r>
              <a:rPr sz="1300" b="0" i="0">
                <a:solidFill>
                  <a:srgbClr val="CCD6E8"/>
                </a:solidFill>
              </a:rPr>
              <a:t> baseline during training: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Policy must beat -O</a:t>
            </a:r>
            <a:r>
              <a:rPr sz="1300" b="0" i="0">
                <a:solidFill>
                  <a:srgbClr val="FFD75E"/>
                </a:solidFill>
              </a:rPr>
              <a:t>3</a:t>
            </a:r>
            <a:r>
              <a:rPr sz="1300" b="0" i="0">
                <a:solidFill>
                  <a:srgbClr val="CCD6E8"/>
                </a:solidFill>
              </a:rPr>
              <a:t> by &gt; noise floor to receive positive reward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Prevents noise-driven false positives in the reward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143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4A9EFF"/>
                </a:solidFill>
              </a:rPr>
              <a:t>Reproducibility Verification  (diagnose)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572768"/>
            <a:ext cx="5669280" cy="26060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Problem: training speedups collected under parallel timing noise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diagnose re-benchmarks top sequences serially under controlled conditions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FFD75E"/>
                </a:solidFill>
              </a:rPr>
              <a:t>20</a:t>
            </a:r>
            <a:r>
              <a:rPr sz="1400" b="0" i="0">
                <a:solidFill>
                  <a:srgbClr val="CCD6E8"/>
                </a:solidFill>
              </a:rPr>
              <a:t> independent serial benchmark runs per sequence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  • </a:t>
            </a:r>
            <a:r>
              <a:rPr sz="1400" b="0" i="0">
                <a:solidFill>
                  <a:srgbClr val="CCD6E8"/>
                </a:solidFill>
              </a:rPr>
              <a:t>Reports mean, std, and full distribution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Result: cached training speedups correlate strongly with re-measured values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Per-sequence distributions are tight → reward signal is reproducible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CCD6E8"/>
                </a:solidFill>
              </a:rPr>
              <a:t>▸ </a:t>
            </a:r>
            <a:r>
              <a:rPr sz="1400" b="0" i="0">
                <a:solidFill>
                  <a:srgbClr val="CCD6E8"/>
                </a:solidFill>
              </a:rPr>
              <a:t>Dominant sequences from interpreter and kmp_search — consistent with EDA ceiling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315968"/>
            <a:ext cx="5669280" cy="2331720"/>
          </a:xfrm>
          <a:prstGeom prst="rect">
            <a:avLst/>
          </a:prstGeom>
          <a:solidFill>
            <a:srgbClr val="0A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074920"/>
            <a:ext cx="5669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1">
                <a:solidFill>
                  <a:srgbClr val="555577"/>
                </a:solidFill>
              </a:rPr>
              <a:t>bench_noise-{fft,kmp}.png · diagnose.png
[cargo run -- bench-noise  /  cargo run -- plot-diagnose
 --results checkpoints/auto-tfx-episode-diagnose.json]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53035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Episode return uses the true runtime signal directly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Every step in a winning sequence reinforced, even modest ones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No proxy metric — policy cannot be misled by IR statistics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Consistently steers toward faster binaries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Weighted return: proxy misalignment kills runtime gains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IR reduction rewarded; no gradient signal for actual speedup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Higher EV (</a:t>
            </a:r>
            <a:r>
              <a:rPr sz="1500" b="0" i="0">
                <a:solidFill>
                  <a:srgbClr val="FFD75E"/>
                </a:solidFill>
              </a:rPr>
              <a:t>0.87</a:t>
            </a:r>
            <a:r>
              <a:rPr sz="1500" b="0" i="0">
                <a:solidFill>
                  <a:srgbClr val="CCD6E8"/>
                </a:solidFill>
              </a:rPr>
              <a:t>/</a:t>
            </a:r>
            <a:r>
              <a:rPr sz="1500" b="0" i="0">
                <a:solidFill>
                  <a:srgbClr val="FFD75E"/>
                </a:solidFill>
              </a:rPr>
              <a:t>0.86</a:t>
            </a:r>
            <a:r>
              <a:rPr sz="1500" b="0" i="0">
                <a:solidFill>
                  <a:srgbClr val="CCD6E8"/>
                </a:solidFill>
              </a:rPr>
              <a:t>) but lower speedup (</a:t>
            </a:r>
            <a:r>
              <a:rPr sz="1500" b="0" i="0">
                <a:solidFill>
                  <a:srgbClr val="FFD75E"/>
                </a:solidFill>
              </a:rPr>
              <a:t>+6.5%</a:t>
            </a:r>
            <a:r>
              <a:rPr sz="1500" b="0" i="0">
                <a:solidFill>
                  <a:srgbClr val="CCD6E8"/>
                </a:solidFill>
              </a:rPr>
              <a:t>/</a:t>
            </a:r>
            <a:r>
              <a:rPr sz="1500" b="0" i="0">
                <a:solidFill>
                  <a:srgbClr val="FFD75E"/>
                </a:solidFill>
              </a:rPr>
              <a:t>+9.2%</a:t>
            </a:r>
            <a:r>
              <a:rPr sz="1500" b="0" i="0">
                <a:solidFill>
                  <a:srgbClr val="CCD6E8"/>
                </a:solidFill>
              </a:rPr>
              <a:t>) vs episode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ir_corr confirms: top IR-reducing fft sequences all −</a:t>
            </a:r>
            <a:r>
              <a:rPr sz="1500" b="0" i="0">
                <a:solidFill>
                  <a:srgbClr val="FFD75E"/>
                </a:solidFill>
              </a:rPr>
              <a:t>8%</a:t>
            </a:r>
            <a:r>
              <a:rPr sz="1500" b="0" i="0">
                <a:solidFill>
                  <a:srgbClr val="CCD6E8"/>
                </a:solidFill>
              </a:rPr>
              <a:t> to −</a:t>
            </a:r>
            <a:r>
              <a:rPr sz="1500" b="0" i="0">
                <a:solidFill>
                  <a:srgbClr val="FFD75E"/>
                </a:solidFill>
              </a:rPr>
              <a:t>35%</a:t>
            </a:r>
            <a:r>
              <a:rPr sz="1500" b="0" i="0">
                <a:solidFill>
                  <a:srgbClr val="CCD6E8"/>
                </a:solidFill>
              </a:rPr>
              <a:t> runtime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▸ </a:t>
            </a:r>
            <a:r>
              <a:rPr sz="1500" b="0" i="0">
                <a:solidFill>
                  <a:srgbClr val="CCD6E8"/>
                </a:solidFill>
              </a:rPr>
              <a:t>Transformer vs GRU: both architectures comparable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GRU: recency bias — free inductive prior, lower training convergence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TFX: non-local attention — slower training but similar final eval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CCD6E8"/>
                </a:solidFill>
              </a:rPr>
              <a:t>  • </a:t>
            </a:r>
            <a:r>
              <a:rPr sz="1500" b="0" i="0">
                <a:solidFill>
                  <a:srgbClr val="CCD6E8"/>
                </a:solidFill>
              </a:rPr>
              <a:t>Architecture gap &lt; return-formulation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43000"/>
            <a:ext cx="5897880" cy="53035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188720"/>
            <a:ext cx="5715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5E"/>
                </a:solidFill>
              </a:rPr>
              <a:t>Stop-Token Behaviour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27632"/>
            <a:ext cx="5715000" cy="320040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Policy never learns to Stop early — always uses all K=</a:t>
            </a:r>
            <a:r>
              <a:rPr sz="1300" b="0" i="0">
                <a:solidFill>
                  <a:srgbClr val="FFD75E"/>
                </a:solidFill>
              </a:rPr>
              <a:t>20</a:t>
            </a:r>
            <a:r>
              <a:rPr sz="1300" b="0" i="0">
                <a:solidFill>
                  <a:srgbClr val="CCD6E8"/>
                </a:solidFill>
              </a:rPr>
              <a:t> steps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Rational given credit-assignment structure: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Q(Stop) = current speedup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Q(any pass) = E[future speedup] — uncertain, possibly higher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No-op penalty helps at the margin but doesn't fix the asymmetry: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Cost of stopping: unbounded foregone gain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Cost of one more pass: at most p = </a:t>
            </a:r>
            <a:r>
              <a:rPr sz="1300" b="0" i="0">
                <a:solidFill>
                  <a:srgbClr val="FFD75E"/>
                </a:solidFill>
              </a:rPr>
              <a:t>0.025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Many top sequences: </a:t>
            </a:r>
            <a:r>
              <a:rPr sz="1300" b="0" i="0">
                <a:solidFill>
                  <a:srgbClr val="FFD75E"/>
                </a:solidFill>
              </a:rPr>
              <a:t>5</a:t>
            </a:r>
            <a:r>
              <a:rPr sz="1300" b="0" i="0">
                <a:solidFill>
                  <a:srgbClr val="CCD6E8"/>
                </a:solidFill>
              </a:rPr>
              <a:t>–</a:t>
            </a:r>
            <a:r>
              <a:rPr sz="1300" b="0" i="0">
                <a:solidFill>
                  <a:srgbClr val="FFD75E"/>
                </a:solidFill>
              </a:rPr>
              <a:t>7</a:t>
            </a:r>
            <a:r>
              <a:rPr sz="1300" b="0" i="0">
                <a:solidFill>
                  <a:srgbClr val="CCD6E8"/>
                </a:solidFill>
              </a:rPr>
              <a:t> repetitions of dominant pass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  • </a:t>
            </a:r>
            <a:r>
              <a:rPr sz="1300" b="0" i="0">
                <a:solidFill>
                  <a:srgbClr val="CCD6E8"/>
                </a:solidFill>
              </a:rPr>
              <a:t>Repeating is safe and occasionally lucky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937760"/>
            <a:ext cx="57150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56D3A0"/>
                </a:solidFill>
              </a:rPr>
              <a:t>Potential Fix: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321808"/>
            <a:ext cx="5715000" cy="82296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CCD6E8"/>
                </a:solidFill>
              </a:rPr>
              <a:t>▸ </a:t>
            </a:r>
            <a:r>
              <a:rPr sz="1300" b="0" i="0">
                <a:solidFill>
                  <a:srgbClr val="CCD6E8"/>
                </a:solidFill>
              </a:rPr>
              <a:t>Per-step length cost, or Stop bonus ≥ E[marginal return from one more pass]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88952" cy="457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394960" cy="2560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Limitations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Benchmark timing noise limits per-episode credit precision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Training set of </a:t>
            </a:r>
            <a:r>
              <a:rPr sz="1600" b="0" i="0">
                <a:solidFill>
                  <a:srgbClr val="FFD75E"/>
                </a:solidFill>
              </a:rPr>
              <a:t>6</a:t>
            </a:r>
            <a:r>
              <a:rPr sz="1600" b="0" i="0">
                <a:solidFill>
                  <a:srgbClr val="CCD6E8"/>
                </a:solidFill>
              </a:rPr>
              <a:t> functions is small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Pass parameters not tuned (loop-unroll count always default)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Effective horizon = K; Stop token unused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31920"/>
            <a:ext cx="5394960" cy="256032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Key Findings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Episode return &gt; weighted: IR reduction is a poor runtime proxy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Pool (</a:t>
            </a:r>
            <a:r>
              <a:rPr sz="1600" b="0" i="0">
                <a:solidFill>
                  <a:srgbClr val="FFD75E"/>
                </a:solidFill>
              </a:rPr>
              <a:t>38</a:t>
            </a:r>
            <a:r>
              <a:rPr sz="1600" b="0" i="0">
                <a:solidFill>
                  <a:srgbClr val="CCD6E8"/>
                </a:solidFill>
              </a:rPr>
              <a:t> fn) failed to converge — episodes per function is the constraint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Architecture gap smaller than return-formulation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5897880" cy="521208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▸ </a:t>
            </a:r>
            <a:r>
              <a:rPr sz="1600" b="0" i="0">
                <a:solidFill>
                  <a:srgbClr val="CCD6E8"/>
                </a:solidFill>
              </a:rPr>
              <a:t>Future Directions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Per-step length cost or Stop bonus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Extend pass menu to cover more LLVM </a:t>
            </a:r>
            <a:r>
              <a:rPr sz="1600" b="0" i="0">
                <a:solidFill>
                  <a:srgbClr val="FFD75E"/>
                </a:solidFill>
              </a:rPr>
              <a:t>20</a:t>
            </a:r>
            <a:r>
              <a:rPr sz="1600" b="0" i="0">
                <a:solidFill>
                  <a:srgbClr val="CCD6E8"/>
                </a:solidFill>
              </a:rPr>
              <a:t> transforms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Transfer to larger, real-world C/C++ programs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Beam search or MCTS at inference time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Combine offline bench-cache with online RL updates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Pass hyperparameter tuning as part of the action space</a:t>
            </a:r>
          </a:p>
          <a:p>
            <a:pPr lvl="1">
              <a:spcAft>
                <a:spcPts val="300"/>
              </a:spcAft>
            </a:pPr>
            <a:r>
              <a:rPr sz="1600">
                <a:solidFill>
                  <a:srgbClr val="CCD6E8"/>
                </a:solidFill>
              </a:rPr>
              <a:t>  • </a:t>
            </a:r>
            <a:r>
              <a:rPr sz="1600" b="0" i="0">
                <a:solidFill>
                  <a:srgbClr val="CCD6E8"/>
                </a:solidFill>
              </a:rPr>
              <a:t>Cross-architecture generalisation (ARM, RISC-V)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4A9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972800" cy="4663440"/>
          </a:xfrm>
          <a:prstGeom prst="rect">
            <a:avLst/>
          </a:prstGeom>
          <a:noFill/>
        </p:spPr>
        <p:txBody>
          <a:bodyPr wrap="none"/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Episode return beats instruction-weighted for both architectures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TFX episode: greedy mean </a:t>
            </a:r>
            <a:r>
              <a:rPr sz="1700" b="0" i="0">
                <a:solidFill>
                  <a:srgbClr val="FFD75E"/>
                </a:solidFill>
              </a:rPr>
              <a:t>+10.4%</a:t>
            </a:r>
            <a:r>
              <a:rPr sz="1700" b="0" i="0">
                <a:solidFill>
                  <a:srgbClr val="FFFFFF"/>
                </a:solidFill>
              </a:rPr>
              <a:t>, </a:t>
            </a:r>
            <a:r>
              <a:rPr sz="1700" b="0" i="0">
                <a:solidFill>
                  <a:srgbClr val="FFD75E"/>
                </a:solidFill>
              </a:rPr>
              <a:t>5</a:t>
            </a:r>
            <a:r>
              <a:rPr sz="1700" b="0" i="0">
                <a:solidFill>
                  <a:srgbClr val="FFFFFF"/>
                </a:solidFill>
              </a:rPr>
              <a:t>/</a:t>
            </a:r>
            <a:r>
              <a:rPr sz="1700" b="0" i="0">
                <a:solidFill>
                  <a:srgbClr val="FFD75E"/>
                </a:solidFill>
              </a:rPr>
              <a:t>6</a:t>
            </a:r>
            <a:r>
              <a:rPr sz="1700" b="0" i="0">
                <a:solidFill>
                  <a:srgbClr val="FFFFFF"/>
                </a:solidFill>
              </a:rPr>
              <a:t> functions · sample-best all </a:t>
            </a:r>
            <a:r>
              <a:rPr sz="1700" b="0" i="0">
                <a:solidFill>
                  <a:srgbClr val="FFD75E"/>
                </a:solidFill>
              </a:rPr>
              <a:t>6</a:t>
            </a:r>
            <a:r>
              <a:rPr sz="1700" b="0" i="0">
                <a:solidFill>
                  <a:srgbClr val="FFFFFF"/>
                </a:solidFill>
              </a:rPr>
              <a:t> (</a:t>
            </a:r>
            <a:r>
              <a:rPr sz="1700" b="0" i="0">
                <a:solidFill>
                  <a:srgbClr val="FFD75E"/>
                </a:solidFill>
              </a:rPr>
              <a:t>2</a:t>
            </a:r>
            <a:r>
              <a:rPr sz="1700" b="0" i="0">
                <a:solidFill>
                  <a:srgbClr val="FFFFFF"/>
                </a:solidFill>
              </a:rPr>
              <a:t>–</a:t>
            </a:r>
            <a:r>
              <a:rPr sz="1700" b="0" i="0">
                <a:solidFill>
                  <a:srgbClr val="FFD75E"/>
                </a:solidFill>
              </a:rPr>
              <a:t>27%</a:t>
            </a:r>
            <a:r>
              <a:rPr sz="1700" b="0" i="0">
                <a:solidFill>
                  <a:srgbClr val="FFFFFF"/>
                </a:solidFill>
              </a:rPr>
              <a:t>)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GRU episode: greedy mean </a:t>
            </a:r>
            <a:r>
              <a:rPr sz="1700" b="0" i="0">
                <a:solidFill>
                  <a:srgbClr val="FFD75E"/>
                </a:solidFill>
              </a:rPr>
              <a:t>+11.4%</a:t>
            </a:r>
            <a:r>
              <a:rPr sz="1700" b="0" i="0">
                <a:solidFill>
                  <a:srgbClr val="FFFFFF"/>
                </a:solidFill>
              </a:rPr>
              <a:t> — comparable to TFX despite slower training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Weighted: </a:t>
            </a:r>
            <a:r>
              <a:rPr sz="1700" b="0" i="0">
                <a:solidFill>
                  <a:srgbClr val="FFD75E"/>
                </a:solidFill>
              </a:rPr>
              <a:t>+6.5%</a:t>
            </a:r>
            <a:r>
              <a:rPr sz="1700" b="0" i="0">
                <a:solidFill>
                  <a:srgbClr val="FFFFFF"/>
                </a:solidFill>
              </a:rPr>
              <a:t> (TFX) / </a:t>
            </a:r>
            <a:r>
              <a:rPr sz="1700" b="0" i="0">
                <a:solidFill>
                  <a:srgbClr val="FFD75E"/>
                </a:solidFill>
              </a:rPr>
              <a:t>+9.2%</a:t>
            </a:r>
            <a:r>
              <a:rPr sz="1700" b="0" i="0">
                <a:solidFill>
                  <a:srgbClr val="FFFFFF"/>
                </a:solidFill>
              </a:rPr>
              <a:t> (GRU) — IR-reduction proxy diverges from speedup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ir_corr confirms IR reduction is not a reliable speedup predictor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Top IR-reducing fft sequences achieve −</a:t>
            </a:r>
            <a:r>
              <a:rPr sz="1700" b="0" i="0">
                <a:solidFill>
                  <a:srgbClr val="FFD75E"/>
                </a:solidFill>
              </a:rPr>
              <a:t>8%</a:t>
            </a:r>
            <a:r>
              <a:rPr sz="1700" b="0" i="0">
                <a:solidFill>
                  <a:srgbClr val="FFFFFF"/>
                </a:solidFill>
              </a:rPr>
              <a:t> to −</a:t>
            </a:r>
            <a:r>
              <a:rPr sz="1700" b="0" i="0">
                <a:solidFill>
                  <a:srgbClr val="FFD75E"/>
                </a:solidFill>
              </a:rPr>
              <a:t>35%</a:t>
            </a:r>
            <a:r>
              <a:rPr sz="1700" b="0" i="0">
                <a:solidFill>
                  <a:srgbClr val="FFFFFF"/>
                </a:solidFill>
              </a:rPr>
              <a:t> runtime — all slower than -O</a:t>
            </a:r>
            <a:r>
              <a:rPr sz="1700" b="0" i="0">
                <a:solidFill>
                  <a:srgbClr val="FFD75E"/>
                </a:solidFill>
              </a:rPr>
              <a:t>3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Stop-token analysis: policy always exhausts horizon K=</a:t>
            </a:r>
            <a:r>
              <a:rPr sz="1700" b="0" i="0">
                <a:solidFill>
                  <a:srgbClr val="FFD75E"/>
                </a:solidFill>
              </a:rPr>
              <a:t>20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Rational under terminal reward; fix requires per-step length cost or Stop bonus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Pool-wide training (</a:t>
            </a:r>
            <a:r>
              <a:rPr sz="1700" b="0" i="0">
                <a:solidFill>
                  <a:srgbClr val="FFD75E"/>
                </a:solidFill>
              </a:rPr>
              <a:t>38</a:t>
            </a:r>
            <a:r>
              <a:rPr sz="1700" b="0" i="0">
                <a:solidFill>
                  <a:srgbClr val="FFFFFF"/>
                </a:solidFill>
              </a:rPr>
              <a:t> fn) failed to converge — episodes/function is the binding constraint</a:t>
            </a:r>
          </a:p>
          <a:p>
            <a:pPr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▸ </a:t>
            </a:r>
            <a:r>
              <a:rPr sz="1700" b="0" i="0">
                <a:solidFill>
                  <a:srgbClr val="FFFFFF"/>
                </a:solidFill>
              </a:rPr>
              <a:t>Key insight: IR delta features must capture structural position, not global counts</a:t>
            </a:r>
          </a:p>
          <a:p>
            <a:pPr lvl="1">
              <a:spcAft>
                <a:spcPts val="300"/>
              </a:spcAft>
            </a:pPr>
            <a:r>
              <a:rPr sz="1700">
                <a:solidFill>
                  <a:srgbClr val="FFFFFF"/>
                </a:solidFill>
              </a:rPr>
              <a:t>  • </a:t>
            </a:r>
            <a:r>
              <a:rPr sz="1700" b="0" i="0">
                <a:solidFill>
                  <a:srgbClr val="FFFFFF"/>
                </a:solidFill>
              </a:rPr>
              <a:t>loop-rotate, licm, sroa shifts invisible to global count vectors; visible to deltas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CCD6E8"/>
                </a:solidFill>
              </a:rPr>
              <a:t>Learning LLVM Pass Sequences via Reinforcement Learning with Autoregressive Policies  ·  Evan Black  ·  ODU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