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</a:rPr>
              <a:t>Department of Modeling &amp; Simulation  ·  Old Dominion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Learning LLVM Pass Sequences
via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 i="0">
                <a:solidFill>
                  <a:srgbClr val="56D3A0"/>
                </a:solidFill>
              </a:rPr>
              <a:t>with Autoregressive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Evan 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D6E8"/>
                </a:solidFill>
              </a:rPr>
              <a:t>eblac013@odu.edu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4A9EFF"/>
                </a:solidFill>
              </a:rPr>
              <a:t>Reinforcement Learning  ·  LLVM  ·  Pass Ordering  ·  PPO  ·  Transformer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Motivation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6400800" cy="51206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LLVM exposes hundreds of individual optimization passes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inlining, vectorization, loop unrolling, dead-code elim, …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Order matters: inline before const-prop → more constants to fold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-O</a:t>
            </a:r>
            <a:r>
              <a:rPr sz="1700" b="0" i="0">
                <a:solidFill>
                  <a:srgbClr val="FFD75E"/>
                </a:solidFill>
              </a:rPr>
              <a:t>3</a:t>
            </a:r>
            <a:r>
              <a:rPr sz="1700" b="0" i="0">
                <a:solidFill>
                  <a:srgbClr val="CCD6E8"/>
                </a:solidFill>
              </a:rPr>
              <a:t> uses a fixed pipeline tuned for the average program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Suboptimal for any specific program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Finding the best pipeline is NP-hard (phase-ordering problem)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ML offers a principled alternative: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Map IR features → pass choices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Train on real execution-time feedback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Generalise to unseen programs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188720"/>
            <a:ext cx="4754880" cy="5029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137160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56D3A0"/>
                </a:solidFill>
              </a:rPr>
              <a:t>The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828800"/>
            <a:ext cx="44805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Beat -O3 on individual programs by learning a per-program pass sequence.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10896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56D3A0"/>
                </a:solidFill>
              </a:rPr>
              <a:t>Prior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566160"/>
            <a:ext cx="4480560" cy="23774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AutoPhase — LSTM + PPO, targets IR size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CompilerGym — standard RL env for LLVM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MLGO — learned inlining at Google scale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MILEPOST — nearest-neighbour on static features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Our focus: wall-clock speedup, offline corpus + autoregressive policy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MDP Formulation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611880" cy="53949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3611880" cy="47548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3429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State  sₜ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64208"/>
            <a:ext cx="3429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48-dim IR delta vector  fₜ ∈ ℝ⁴⁸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48256"/>
            <a:ext cx="3429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CCD6E8"/>
                </a:solidFill>
              </a:rPr>
              <a:t>3 chunk-pairs × 16 dims each: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95728"/>
            <a:ext cx="3429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56D3A0"/>
                </a:solidFill>
              </a:rPr>
              <a:t>Opcode categories (12):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06624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memory · int-arith · float-arith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90088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bitwise · compare · 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73552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call · control · phi/select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557015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vector · block-boundary · 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67912"/>
            <a:ext cx="3429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56D3A0"/>
                </a:solidFill>
              </a:rPr>
              <a:t>Metadata rates (4):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tbaa · llvm.loop · alias.scope · noalias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26280"/>
            <a:ext cx="3429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Δ = chunk(c+1) − chunk(c)  for c ∈ {0,1,2}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974336"/>
            <a:ext cx="3429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Invariant to function size;
sensitive to loop-rotate, licm, sroa structural shifts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1097280"/>
            <a:ext cx="3840480" cy="53949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1097280"/>
            <a:ext cx="3840480" cy="47548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1143000"/>
            <a:ext cx="3657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Action  aₜ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166420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29 total:  28 passes  +  1 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2066543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Example passes: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395728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inline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395728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removes call overhead; exposes callee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679192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sroa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2679192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scalar replace aggregates → registers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2962656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mem2reg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672" y="2962656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alloca → SSA (prerequisite for most)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24612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instcombine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76672" y="3246120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fold/simplify instruction patterns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529584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simplifycfg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672" y="3529584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clean dead blocks, merge branches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3813048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loop-rotate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813048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canonicalize loops for LICM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096512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licm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76672" y="4096512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hoist loop-invariant code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379976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loop-unroll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6672" y="4379976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replicate loop body N times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66344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gvn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6672" y="4663440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global value numbering / CSE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946904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Stop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76672" y="4946904"/>
            <a:ext cx="24871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terminate early → compile binary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1097280"/>
            <a:ext cx="3730752" cy="53949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1097280"/>
            <a:ext cx="3730752" cy="475488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1143000"/>
            <a:ext cx="354787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Reward  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1664208"/>
            <a:ext cx="35478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Terminal speedup vs -O3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084831"/>
            <a:ext cx="354787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5E"/>
                </a:solidFill>
              </a:rPr>
              <a:t>r = (t_O3 − t_policy) / t_O3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523744"/>
            <a:ext cx="35478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56D3A0"/>
                </a:solidFill>
              </a:rPr>
              <a:t>Positive = faster than -O3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2907792"/>
            <a:ext cx="3456432" cy="3310128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29718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Concrete example — fft: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333756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</a:rPr>
              <a:t>t_O3  = 46,509 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3675887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</a:rPr>
              <a:t>t_policy = 41,852 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4050791"/>
            <a:ext cx="3273552" cy="27432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4133087"/>
            <a:ext cx="3291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 = (46,509 − 41,852) / 46,509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4517136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= 4,657 / 46,509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492861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56D3A0"/>
                </a:solidFill>
              </a:rPr>
              <a:t>  = +10.0%  speedup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943600"/>
            <a:ext cx="3547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Trimmed mean of 201 timed runs
(10% trim, 5 warm-up, CLOCK_MONOTONIC)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Dataset &amp;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950k random sequences · 38 benchmarks · bench-cache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Training Landscape — Bench-Cache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931920" cy="54406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61288"/>
            <a:ext cx="37490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Bench-Cache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3749039" cy="5303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Total 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70992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950,000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194560"/>
            <a:ext cx="3749039" cy="530352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76856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Benchmarks in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27685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761488"/>
            <a:ext cx="3749039" cy="5303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43784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Training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84378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328415"/>
            <a:ext cx="3749039" cy="530352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10711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Sequences / fn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410711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25,000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95344"/>
            <a:ext cx="3749039" cy="5303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77639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Sequence lengths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97763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1 – 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462272"/>
            <a:ext cx="3749039" cy="530352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44568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Pass menu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54456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28 + Stop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029200"/>
            <a:ext cx="3749039" cy="5303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111496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Baselines per 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511149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-O0, -O2, -O3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596128"/>
            <a:ext cx="3749039" cy="530352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678424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Cache format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67842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on-disk key-value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7220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666688"/>
                </a:solidFill>
              </a:rPr>
              <a:t>★ placeholder stats — update once dataset.png regenerated</a:t>
            </a:r>
          </a:p>
        </p:txBody>
      </p:sp>
      <p:pic>
        <p:nvPicPr>
          <p:cNvPr id="32" name="Picture 31" descr="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97280"/>
            <a:ext cx="7498079" cy="22302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Benchmark Pool &amp; Training Benchmark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074920" cy="1874519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Pool: </a:t>
            </a:r>
            <a:r>
              <a:rPr sz="1600" b="0" i="0">
                <a:solidFill>
                  <a:srgbClr val="FFD75E"/>
                </a:solidFill>
              </a:rPr>
              <a:t>38</a:t>
            </a:r>
            <a:r>
              <a:rPr sz="1600" b="0" i="0">
                <a:solidFill>
                  <a:srgbClr val="CCD6E8"/>
                </a:solidFill>
              </a:rPr>
              <a:t> self-contained C benchmarks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Sorting, numerical, data structures, codecs, recursive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FFD75E"/>
                </a:solidFill>
              </a:rPr>
              <a:t>25,000</a:t>
            </a:r>
            <a:r>
              <a:rPr sz="1600" b="0" i="0">
                <a:solidFill>
                  <a:srgbClr val="CCD6E8"/>
                </a:solidFill>
              </a:rPr>
              <a:t> random sequences per benchmark → ~</a:t>
            </a:r>
            <a:r>
              <a:rPr sz="1600" b="0" i="0">
                <a:solidFill>
                  <a:srgbClr val="FFD75E"/>
                </a:solidFill>
              </a:rPr>
              <a:t>950</a:t>
            </a:r>
            <a:r>
              <a:rPr sz="1600" b="0" i="0">
                <a:solidFill>
                  <a:srgbClr val="CCD6E8"/>
                </a:solidFill>
              </a:rPr>
              <a:t>k entries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FFD75E"/>
                </a:solidFill>
              </a:rPr>
              <a:t>3</a:t>
            </a:r>
            <a:r>
              <a:rPr sz="1600" b="0" i="0">
                <a:solidFill>
                  <a:srgbClr val="CCD6E8"/>
                </a:solidFill>
              </a:rPr>
              <a:t> baselines (-O</a:t>
            </a:r>
            <a:r>
              <a:rPr sz="1600" b="0" i="0">
                <a:solidFill>
                  <a:srgbClr val="FFD75E"/>
                </a:solidFill>
              </a:rPr>
              <a:t>0,</a:t>
            </a:r>
            <a:r>
              <a:rPr sz="1600" b="0" i="0">
                <a:solidFill>
                  <a:srgbClr val="CCD6E8"/>
                </a:solidFill>
              </a:rPr>
              <a:t> -O</a:t>
            </a:r>
            <a:r>
              <a:rPr sz="1600" b="0" i="0">
                <a:solidFill>
                  <a:srgbClr val="FFD75E"/>
                </a:solidFill>
              </a:rPr>
              <a:t>2,</a:t>
            </a:r>
            <a:r>
              <a:rPr sz="1600" b="0" i="0">
                <a:solidFill>
                  <a:srgbClr val="CCD6E8"/>
                </a:solidFill>
              </a:rPr>
              <a:t> -O</a:t>
            </a:r>
            <a:r>
              <a:rPr sz="1600" b="0" i="0">
                <a:solidFill>
                  <a:srgbClr val="FFD75E"/>
                </a:solidFill>
              </a:rPr>
              <a:t>3</a:t>
            </a:r>
            <a:r>
              <a:rPr sz="1600" b="0" i="0">
                <a:solidFill>
                  <a:srgbClr val="CCD6E8"/>
                </a:solidFill>
              </a:rPr>
              <a:t>) recorded per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090672"/>
            <a:ext cx="5074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6 Training Benchmarks — selection criteria: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9584"/>
            <a:ext cx="5074920" cy="22860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At least one random sequence beats -O</a:t>
            </a:r>
            <a:r>
              <a:rPr sz="1500" b="0" i="0">
                <a:solidFill>
                  <a:srgbClr val="FFD75E"/>
                </a:solidFill>
              </a:rPr>
              <a:t>3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High CV across sequences (rugged reward landscape)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Diverse computational profiles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143000"/>
            <a:ext cx="6172200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252728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25272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O3 (ns)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25272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Best (ns)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252728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vs O3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252728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CV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1901952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11680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interpreter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01168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37,918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27,591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011680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0FF66"/>
                </a:solidFill>
              </a:rPr>
              <a:t>−27.2%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2011680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CCAA44"/>
                </a:solidFill>
              </a:rPr>
              <a:t>13.9%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0" y="2660904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770632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kmp_search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770632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886,408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770632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671,195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770632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DFA6A"/>
                </a:solidFill>
              </a:rPr>
              <a:t>−24.3%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70632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9D206"/>
                </a:solidFill>
              </a:rPr>
              <a:t>42.7%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3419856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3529584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polynomial_eval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529584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417,235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529584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364,235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529584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41E97B"/>
                </a:solidFill>
              </a:rPr>
              <a:t>−12.7%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3529584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46.0%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4178808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4288536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fft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88536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46,509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288536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41,852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288536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4DE57F"/>
                </a:solidFill>
              </a:rPr>
              <a:t>−10.0%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4288536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EEC816"/>
                </a:solidFill>
              </a:rPr>
              <a:t>35.5%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5000" y="4937759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5047488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array_reduction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04748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97,184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504748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92,619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5047488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66DD88"/>
                </a:solidFill>
              </a:rPr>
              <a:t> −4.7%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5047488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0C913"/>
                </a:solidFill>
              </a:rPr>
              <a:t>36.6%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0" y="5696712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5806440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binary_tree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580644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117,990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80644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107,087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806440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51E381"/>
                </a:solidFill>
              </a:rPr>
              <a:t> −9.2%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5806440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D3B03A"/>
                </a:solidFill>
              </a:rPr>
              <a:t>18.4%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59893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56D3A0"/>
                </a:solidFill>
              </a:rPr>
              <a:t>Green = speedup magnitude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989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FFD75E"/>
                </a:solidFill>
              </a:rPr>
              <a:t>Yellow = landscape ruggedness (CV)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IR 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03520" cy="32004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Policy observes a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IR feature vector fₜ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Split IR into C=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equal positional chunks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Per chunk: opcode histogram (</a:t>
            </a:r>
            <a:r>
              <a:rPr sz="1500" b="0" i="0">
                <a:solidFill>
                  <a:srgbClr val="FFD75E"/>
                </a:solidFill>
              </a:rPr>
              <a:t>12</a:t>
            </a:r>
            <a:r>
              <a:rPr sz="1500" b="0" i="0">
                <a:solidFill>
                  <a:srgbClr val="CCD6E8"/>
                </a:solidFill>
              </a:rPr>
              <a:t> categories) + metadata rates (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kinds)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categories: memory, int-arith, float-arith, bitwise, compare, cast,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call, control, phi/select, vector, block-boundary, other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metadata: tbaa, llvm.loop, alias.scope, noalias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adjacent-chunk deltas → 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× </a:t>
            </a:r>
            <a:r>
              <a:rPr sz="1500" b="0" i="0">
                <a:solidFill>
                  <a:srgbClr val="FFD75E"/>
                </a:solidFill>
              </a:rPr>
              <a:t>16</a:t>
            </a:r>
            <a:r>
              <a:rPr sz="1500" b="0" i="0">
                <a:solidFill>
                  <a:srgbClr val="CCD6E8"/>
                </a:solidFill>
              </a:rPr>
              <a:t> =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vector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Key properties: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Invariant to function size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Responds to loop-rotate, licm, sroa — invisible to global counts</a:t>
            </a:r>
          </a:p>
        </p:txBody>
      </p:sp>
      <p:pic>
        <p:nvPicPr>
          <p:cNvPr id="6" name="Picture 5" descr="features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6126480" cy="2166241"/>
          </a:xfrm>
          <a:prstGeom prst="rect">
            <a:avLst/>
          </a:prstGeom>
        </p:spPr>
      </p:pic>
      <p:pic>
        <p:nvPicPr>
          <p:cNvPr id="7" name="Picture 6" descr="features_m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931920"/>
            <a:ext cx="6126480" cy="38093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Pass Menu &amp; EDA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20116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28</a:t>
            </a:r>
            <a:r>
              <a:rPr sz="1500" b="0" i="0">
                <a:solidFill>
                  <a:srgbClr val="CCD6E8"/>
                </a:solidFill>
              </a:rPr>
              <a:t>-pass primary menu + Stop token (</a:t>
            </a:r>
            <a:r>
              <a:rPr sz="1500" b="0" i="0">
                <a:solidFill>
                  <a:srgbClr val="FFD75E"/>
                </a:solidFill>
              </a:rPr>
              <a:t>29</a:t>
            </a:r>
            <a:r>
              <a:rPr sz="1500" b="0" i="0">
                <a:solidFill>
                  <a:srgbClr val="CCD6E8"/>
                </a:solidFill>
              </a:rPr>
              <a:t> total)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Inclusion criteria: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Appears in -O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inner loop or is a prerequisite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Demonstrable impact on C compute code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Covers a distinct optimization category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LLVM </a:t>
            </a:r>
            <a:r>
              <a:rPr sz="1500" b="0" i="0">
                <a:solidFill>
                  <a:srgbClr val="FFD75E"/>
                </a:solidFill>
              </a:rPr>
              <a:t>20</a:t>
            </a:r>
            <a:r>
              <a:rPr sz="1500" b="0" i="0">
                <a:solidFill>
                  <a:srgbClr val="CCD6E8"/>
                </a:solidFill>
              </a:rPr>
              <a:t> nesting handled transparently: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inline → cgscc(inline)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licm → loop-mssa(licm)  ·  loop-rotate → loop(loop-rotate)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461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Top passes by EDA analysis: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675887"/>
            <a:ext cx="539496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21607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721607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Top-Decile Enrich.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721607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Geo-Mean Speedup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60520"/>
            <a:ext cx="539496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2.35×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2062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1.26×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645152"/>
            <a:ext cx="53949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69087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simplifycfg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69087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1.98×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690872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1.12×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9783"/>
            <a:ext cx="539496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75503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sroa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175503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1.87×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175503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1.09×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614416"/>
            <a:ext cx="53949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66013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mem2reg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66013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1.76×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660136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1.08×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94360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inline is the top pass-enabler: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Removing call overhead exposes callee bodies to const-prop, DCE, loop transforms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Enrichment </a:t>
            </a:r>
            <a:r>
              <a:rPr sz="1500" b="0" i="0">
                <a:solidFill>
                  <a:srgbClr val="FFD75E"/>
                </a:solidFill>
              </a:rPr>
              <a:t>2.35×</a:t>
            </a:r>
            <a:r>
              <a:rPr sz="1500" b="0" i="0">
                <a:solidFill>
                  <a:srgbClr val="CCD6E8"/>
                </a:solidFill>
              </a:rPr>
              <a:t> = appears in top-decile at </a:t>
            </a:r>
            <a:r>
              <a:rPr sz="1500" b="0" i="0">
                <a:solidFill>
                  <a:srgbClr val="FFD75E"/>
                </a:solidFill>
              </a:rPr>
              <a:t>2.35×</a:t>
            </a:r>
            <a:r>
              <a:rPr sz="1500" b="0" i="0">
                <a:solidFill>
                  <a:srgbClr val="CCD6E8"/>
                </a:solidFill>
              </a:rPr>
              <a:t> baseline rate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simplifycfg + sroa + mem</a:t>
            </a:r>
            <a:r>
              <a:rPr sz="1500" b="0" i="0">
                <a:solidFill>
                  <a:srgbClr val="FFD75E"/>
                </a:solidFill>
              </a:rPr>
              <a:t>2</a:t>
            </a:r>
            <a:r>
              <a:rPr sz="1500" b="0" i="0">
                <a:solidFill>
                  <a:srgbClr val="CCD6E8"/>
                </a:solidFill>
              </a:rPr>
              <a:t>reg unlock downstream analyses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SSA promotion (mem</a:t>
            </a:r>
            <a:r>
              <a:rPr sz="1500" b="0" i="0">
                <a:solidFill>
                  <a:srgbClr val="FFD75E"/>
                </a:solidFill>
              </a:rPr>
              <a:t>2</a:t>
            </a:r>
            <a:r>
              <a:rPr sz="1500" b="0" i="0">
                <a:solidFill>
                  <a:srgbClr val="CCD6E8"/>
                </a:solidFill>
              </a:rPr>
              <a:t>reg) required before most scalar optimizations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Sequence length distribution ~uniform across </a:t>
            </a:r>
            <a:r>
              <a:rPr sz="1500" b="0" i="0">
                <a:solidFill>
                  <a:srgbClr val="FFD75E"/>
                </a:solidFill>
              </a:rPr>
              <a:t>1</a:t>
            </a:r>
            <a:r>
              <a:rPr sz="1500" b="0" i="0">
                <a:solidFill>
                  <a:srgbClr val="CCD6E8"/>
                </a:solidFill>
              </a:rPr>
              <a:t>–</a:t>
            </a:r>
            <a:r>
              <a:rPr sz="1500" b="0" i="0">
                <a:solidFill>
                  <a:srgbClr val="FFD75E"/>
                </a:solidFill>
              </a:rPr>
              <a:t>20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Best-found sequence median length: </a:t>
            </a:r>
            <a:r>
              <a:rPr sz="1500" b="0" i="0">
                <a:solidFill>
                  <a:srgbClr val="FFD75E"/>
                </a:solidFill>
              </a:rPr>
              <a:t>17</a:t>
            </a:r>
            <a:r>
              <a:rPr sz="1500" b="0" i="0">
                <a:solidFill>
                  <a:srgbClr val="CCD6E8"/>
                </a:solidFill>
              </a:rPr>
              <a:t>–</a:t>
            </a:r>
            <a:r>
              <a:rPr sz="1500" b="0" i="0">
                <a:solidFill>
                  <a:srgbClr val="FFD75E"/>
                </a:solidFill>
              </a:rPr>
              <a:t>18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No spike at the </a:t>
            </a:r>
            <a:r>
              <a:rPr sz="1500" b="0" i="0">
                <a:solidFill>
                  <a:srgbClr val="FFD75E"/>
                </a:solidFill>
              </a:rPr>
              <a:t>20</a:t>
            </a:r>
            <a:r>
              <a:rPr sz="1500" b="0" i="0">
                <a:solidFill>
                  <a:srgbClr val="CCD6E8"/>
                </a:solidFill>
              </a:rPr>
              <a:t>-pass cap → K=</a:t>
            </a:r>
            <a:r>
              <a:rPr sz="1500" b="0" i="0">
                <a:solidFill>
                  <a:srgbClr val="FFD75E"/>
                </a:solidFill>
              </a:rPr>
              <a:t>20</a:t>
            </a:r>
            <a:r>
              <a:rPr sz="1500" b="0" i="0">
                <a:solidFill>
                  <a:srgbClr val="CCD6E8"/>
                </a:solidFill>
              </a:rPr>
              <a:t> horizon is sufficient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Stop token viable as early-termination mechanism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Bench-cache lookup rate grows during training: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Policy re-generates previously benchmarked sequences → instant reward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Policy Architecture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Auto-TFX  ·  Auto-GRU  ·  PPO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Policy Architecture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577840" cy="43891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33856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</a:rPr>
              <a:t>Auto-TFX  (Causal Transformer)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1664208"/>
            <a:ext cx="987552" cy="74980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709928"/>
            <a:ext cx="877824" cy="389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W·fₜ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069104"/>
            <a:ext cx="877824" cy="3224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IR proj
48→128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1664208"/>
            <a:ext cx="987552" cy="749808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8176" y="1709928"/>
            <a:ext cx="877824" cy="389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E[a₀]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069104"/>
            <a:ext cx="877824" cy="3224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5" y="1664208"/>
            <a:ext cx="987552" cy="749808"/>
          </a:xfrm>
          <a:prstGeom prst="rect">
            <a:avLst/>
          </a:prstGeom>
          <a:solidFill>
            <a:srgbClr val="2A7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79" y="1709928"/>
            <a:ext cx="877824" cy="389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E[a₁]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79" y="2069104"/>
            <a:ext cx="877824" cy="3224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19" y="1664208"/>
            <a:ext cx="987552" cy="74980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3" y="1719072"/>
            <a:ext cx="877824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CCD6E8"/>
                </a:solidFill>
              </a:rPr>
              <a:t>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1664208"/>
            <a:ext cx="987552" cy="749808"/>
          </a:xfrm>
          <a:prstGeom prst="rect">
            <a:avLst/>
          </a:prstGeom>
          <a:solidFill>
            <a:srgbClr val="1A6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1709928"/>
            <a:ext cx="877824" cy="389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E[aₜ₋₁]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069104"/>
            <a:ext cx="877824" cy="3224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24688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full attention (no mask)  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" y="2779776"/>
            <a:ext cx="5376672" cy="713232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825496"/>
            <a:ext cx="5266944" cy="370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Transformer Encoder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3164921"/>
            <a:ext cx="5266944" cy="30668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2 layers · 4 heads · d=128 · feed-forward 256 · dropout 0.1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47872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token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547872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token 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" y="3840480"/>
            <a:ext cx="2286000" cy="65836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886200"/>
            <a:ext cx="217627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Value 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4195998"/>
            <a:ext cx="217627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reads token 0
→ V(sₜ)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3840480"/>
            <a:ext cx="2286000" cy="658368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8144" y="3886200"/>
            <a:ext cx="217627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Policy 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38144" y="4195998"/>
            <a:ext cx="217627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reads token t
→ logits (29)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" y="4626864"/>
            <a:ext cx="5376672" cy="749808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5230368" cy="694944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No causal mask — decodes 1 step at a time, full sequence always visible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Batched replay: K forward passes (one per step position) instead of N×K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097280"/>
            <a:ext cx="5577840" cy="438912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1133856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</a:rPr>
              <a:t>Auto-GRU  (Recurrent)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166420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Step 0 — seed hidden state from initial IR: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7648" y="1956816"/>
            <a:ext cx="1097280" cy="65836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2002536"/>
            <a:ext cx="98755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f₀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2312334"/>
            <a:ext cx="98755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48-dim
IR feat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79792" y="2176272"/>
            <a:ext cx="34747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1956816"/>
            <a:ext cx="1417320" cy="658368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2011680"/>
            <a:ext cx="13075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Linear
project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2176272"/>
            <a:ext cx="34747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20072" y="1956816"/>
            <a:ext cx="1920240" cy="65836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74936" y="2002536"/>
            <a:ext cx="181051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h₀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4936" y="2312334"/>
            <a:ext cx="181051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initial hidden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276148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Step t — recurrent update: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27648" y="3054096"/>
            <a:ext cx="1097280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3099815"/>
            <a:ext cx="987552" cy="3090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fₜ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3375050"/>
            <a:ext cx="987552" cy="2555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IR feat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3694176"/>
            <a:ext cx="1097280" cy="594360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82512" y="3739896"/>
            <a:ext cx="987552" cy="3090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aₜ₋₁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82512" y="4015130"/>
            <a:ext cx="987552" cy="2555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343814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concat
  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83296" y="3145536"/>
            <a:ext cx="1417320" cy="59436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38160" y="3200400"/>
            <a:ext cx="1307592" cy="4846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GRU Cell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46336" y="3328416"/>
            <a:ext cx="34747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39528" y="3145536"/>
            <a:ext cx="1709928" cy="59436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94392" y="3191256"/>
            <a:ext cx="1600200" cy="3090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hₜ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94392" y="3466490"/>
            <a:ext cx="1600200" cy="2555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hidden state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3822191"/>
            <a:ext cx="15544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A040"/>
                </a:solidFill>
              </a:rPr>
              <a:t>↑ hₜ₋₁  (recurrent)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7648" y="4160520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↓  hₜ  →  output heads: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27648" y="4453128"/>
            <a:ext cx="2286000" cy="65836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82512" y="4498848"/>
            <a:ext cx="217627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Value Head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2512" y="4808646"/>
            <a:ext cx="217627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0F172A"/>
                </a:solidFill>
              </a:rPr>
              <a:t>→ V(sₜ)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42248" y="4453128"/>
            <a:ext cx="2286000" cy="658368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97112" y="4498848"/>
            <a:ext cx="2176272" cy="342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Policy Head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97112" y="4808646"/>
            <a:ext cx="2176272" cy="2830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0F172A"/>
                </a:solidFill>
              </a:rPr>
              <a:t>→ logits (29)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27648" y="5239512"/>
            <a:ext cx="5559552" cy="594360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5266944"/>
            <a:ext cx="5413248" cy="5486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Recency bias: recent IR state has more influence — free inductive prior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Compresses full episode history into a fixed-width hidden vector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320" y="5961888"/>
            <a:ext cx="1164031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CCD6E8"/>
                </a:solidFill>
              </a:rPr>
              <a:t>Both architectures re-encode current IR features fₜ at every step — neither operates on a stale snapshot.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Concrete Pass-Selection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11521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1521440" cy="64008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07008"/>
            <a:ext cx="11338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FFD75E"/>
                </a:solidFill>
              </a:rPr>
              <a:t>Example: interpreter  ·  -O3 baseline = 37,918 ns  ·  Greedy policy result: ~27,138 ns  →  +27.7% speedup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1783080" cy="34747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mem↑
call↑
control↑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82696"/>
            <a:ext cx="1783080" cy="47548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5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remove call
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2263" y="3429000"/>
            <a:ext cx="1920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1874519"/>
            <a:ext cx="1783080" cy="347472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12848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8568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mem↑
cfg↑
int-arith↓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7168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2848" y="3282696"/>
            <a:ext cx="1783080" cy="475488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4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simplifycfg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9424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clean dead
blocks/branches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5072" y="3429000"/>
            <a:ext cx="1920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5655" y="1874519"/>
            <a:ext cx="1783080" cy="347472"/>
          </a:xfrm>
          <a:prstGeom prst="rect">
            <a:avLst/>
          </a:prstGeom>
          <a:solidFill>
            <a:srgbClr val="2AA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51375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05655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51375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mem↓↓
int-arith↑
SSA↑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9975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05655" y="3282696"/>
            <a:ext cx="1783080" cy="475488"/>
          </a:xfrm>
          <a:prstGeom prst="rect">
            <a:avLst/>
          </a:prstGeom>
          <a:solidFill>
            <a:srgbClr val="2AA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1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sroa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05655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42231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stack→regs
(mem↓ heavy)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79" y="3429000"/>
            <a:ext cx="1920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98463" y="1874519"/>
            <a:ext cx="1783080" cy="347472"/>
          </a:xfrm>
          <a:prstGeom prst="rect">
            <a:avLst/>
          </a:prstGeom>
          <a:solidFill>
            <a:srgbClr val="5A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44183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98463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44183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mem≈0
consts
visible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3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98463" y="3282696"/>
            <a:ext cx="1783080" cy="475488"/>
          </a:xfrm>
          <a:prstGeom prst="rect">
            <a:avLst/>
          </a:prstGeom>
          <a:solidFill>
            <a:srgbClr val="5A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39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mem2reg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98463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39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alloca→SSA
promotes vals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7" y="3429000"/>
            <a:ext cx="1920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91271" y="1874519"/>
            <a:ext cx="1783080" cy="347472"/>
          </a:xfrm>
          <a:prstGeom prst="rect">
            <a:avLst/>
          </a:prstGeom>
          <a:solidFill>
            <a:srgbClr val="9A7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36992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91271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36992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stable
Δ small
per step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91271" y="3282696"/>
            <a:ext cx="1783080" cy="475488"/>
          </a:xfrm>
          <a:prstGeom prst="rect">
            <a:avLst/>
          </a:prstGeom>
          <a:solidFill>
            <a:srgbClr val="9A7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27847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instcombine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91271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27847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fold/simplify
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3495" y="3429000"/>
            <a:ext cx="1920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84080" y="1874519"/>
            <a:ext cx="1783080" cy="347472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29800" y="1920239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5–19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84080" y="2249424"/>
            <a:ext cx="1783080" cy="71323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29800" y="2295144"/>
            <a:ext cx="1691639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minor
Δ per step
(safe)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008376"/>
            <a:ext cx="1234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84080" y="3282696"/>
            <a:ext cx="1783080" cy="475488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20655" y="3328415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instcombine
×15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84080" y="3794760"/>
            <a:ext cx="178308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0655" y="3849624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safe: rarely
hurts, occ. wins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553712"/>
            <a:ext cx="11521440" cy="521207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" y="4553712"/>
            <a:ext cx="11521440" cy="54864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4636008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Compile → benchmark  ·  measured = 27,138 ns  ·  r = (37,918 − 27,138) / 37,918 = +27.7% 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5184648"/>
            <a:ext cx="11521440" cy="10515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5239512"/>
            <a:ext cx="5394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Why repeat instcombine?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5605272"/>
            <a:ext cx="5349240" cy="5943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</a:t>
            </a:r>
            <a:r>
              <a:rPr sz="1100" b="0" i="0">
                <a:solidFill>
                  <a:srgbClr val="CCD6E8"/>
                </a:solidFill>
              </a:rPr>
              <a:t>Q(Stop)=current speedup; Q(pass)=E[future] — uncertain, possibly higher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</a:t>
            </a:r>
            <a:r>
              <a:rPr sz="1100" b="0" i="0">
                <a:solidFill>
                  <a:srgbClr val="CCD6E8"/>
                </a:solidFill>
              </a:rPr>
              <a:t>Penalty p=</a:t>
            </a:r>
            <a:r>
              <a:rPr sz="1100" b="0" i="0">
                <a:solidFill>
                  <a:srgbClr val="FFD75E"/>
                </a:solidFill>
              </a:rPr>
              <a:t>0.025</a:t>
            </a:r>
            <a:r>
              <a:rPr sz="1100" b="0" i="0">
                <a:solidFill>
                  <a:srgbClr val="CCD6E8"/>
                </a:solidFill>
              </a:rPr>
              <a:t> per no-op is tiny vs ~</a:t>
            </a:r>
            <a:r>
              <a:rPr sz="1100" b="0" i="0">
                <a:solidFill>
                  <a:srgbClr val="FFD75E"/>
                </a:solidFill>
              </a:rPr>
              <a:t>28%</a:t>
            </a:r>
            <a:r>
              <a:rPr sz="1100" b="0" i="0">
                <a:solidFill>
                  <a:srgbClr val="CCD6E8"/>
                </a:solidFill>
              </a:rPr>
              <a:t> gain — rational to continue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0" y="5239512"/>
            <a:ext cx="56692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6D3A0"/>
                </a:solidFill>
              </a:rPr>
              <a:t>Why is inline so dominant?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0" y="5605272"/>
            <a:ext cx="5623560" cy="5943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interpreter has a tight bytecode dispatch loop — call overhead dominates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After inline: callee body is visible → const-prop + DCE fire hard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PPO Training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166360" cy="26974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On-policy collect → update loop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Collect </a:t>
            </a:r>
            <a:r>
              <a:rPr sz="1500" b="0" i="0">
                <a:solidFill>
                  <a:srgbClr val="FFD75E"/>
                </a:solidFill>
              </a:rPr>
              <a:t>256</a:t>
            </a:r>
            <a:r>
              <a:rPr sz="1500" b="0" i="0">
                <a:solidFill>
                  <a:srgbClr val="CCD6E8"/>
                </a:solidFill>
              </a:rPr>
              <a:t> episodes per epoch (Rayon parallel)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PPO inner epochs on mini-batches of </a:t>
            </a:r>
            <a:r>
              <a:rPr sz="1500" b="0" i="0">
                <a:solidFill>
                  <a:srgbClr val="FFD75E"/>
                </a:solidFill>
              </a:rPr>
              <a:t>128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KL early-stop at </a:t>
            </a:r>
            <a:r>
              <a:rPr sz="1500" b="0" i="0">
                <a:solidFill>
                  <a:srgbClr val="FFD75E"/>
                </a:solidFill>
              </a:rPr>
              <a:t>0.05</a:t>
            </a:r>
            <a:r>
              <a:rPr sz="1500" b="0" i="0">
                <a:solidFill>
                  <a:srgbClr val="CCD6E8"/>
                </a:solidFill>
              </a:rPr>
              <a:t> aborts inner loop if update too large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AdamW · cosine LR </a:t>
            </a:r>
            <a:r>
              <a:rPr sz="1500" b="0" i="0">
                <a:solidFill>
                  <a:srgbClr val="FFD75E"/>
                </a:solidFill>
              </a:rPr>
              <a:t>1</a:t>
            </a:r>
            <a:r>
              <a:rPr sz="1500" b="0" i="0">
                <a:solidFill>
                  <a:srgbClr val="CCD6E8"/>
                </a:solidFill>
              </a:rPr>
              <a:t>e</a:t>
            </a:r>
            <a:r>
              <a:rPr sz="1500" b="0" i="0">
                <a:solidFill>
                  <a:srgbClr val="FFD75E"/>
                </a:solidFill>
              </a:rPr>
              <a:t>-3</a:t>
            </a:r>
            <a:r>
              <a:rPr sz="1500" b="0" i="0">
                <a:solidFill>
                  <a:srgbClr val="CCD6E8"/>
                </a:solidFill>
              </a:rPr>
              <a:t> → ~</a:t>
            </a:r>
            <a:r>
              <a:rPr sz="1500" b="0" i="0">
                <a:solidFill>
                  <a:srgbClr val="FFD75E"/>
                </a:solidFill>
              </a:rPr>
              <a:t>0</a:t>
            </a:r>
            <a:r>
              <a:rPr sz="1500" b="0" i="0">
                <a:solidFill>
                  <a:srgbClr val="CCD6E8"/>
                </a:solidFill>
              </a:rPr>
              <a:t> over </a:t>
            </a:r>
            <a:r>
              <a:rPr sz="1500" b="0" i="0">
                <a:solidFill>
                  <a:srgbClr val="FFD75E"/>
                </a:solidFill>
              </a:rPr>
              <a:t>100</a:t>
            </a:r>
            <a:r>
              <a:rPr sz="1500" b="0" i="0">
                <a:solidFill>
                  <a:srgbClr val="CCD6E8"/>
                </a:solidFill>
              </a:rPr>
              <a:t> epochs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100</a:t>
            </a:r>
            <a:r>
              <a:rPr sz="1500" b="0" i="0">
                <a:solidFill>
                  <a:srgbClr val="CCD6E8"/>
                </a:solidFill>
              </a:rPr>
              <a:t> epochs total per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31920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Hyperparameters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352544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407407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d_model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4407407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0552" y="4352544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4407407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407407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9624" y="4352544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4407407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Heads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07407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828031"/>
            <a:ext cx="1691640" cy="44805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882895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FF dim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4882895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0552" y="4828031"/>
            <a:ext cx="1691640" cy="44805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4882895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882895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0.1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9624" y="4828031"/>
            <a:ext cx="1691640" cy="44805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13632" y="4882895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Horizon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4882895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03520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358383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5358383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30552" y="5303520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5358383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Ep/epoch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358383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256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9624" y="5303520"/>
            <a:ext cx="169164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13632" y="5358383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Mini-batch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5358383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128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1097280"/>
            <a:ext cx="6080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  =  −E[ L_clip ]  +  c_v · E[ L_value ]  −  c_e · E[ L_entropy 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1572768"/>
            <a:ext cx="6080760" cy="1572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06440" y="1572768"/>
            <a:ext cx="64008" cy="157276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636776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A9EFF"/>
                </a:solidFill>
              </a:rPr>
              <a:t>CLIP Term  — policy gradient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975104"/>
            <a:ext cx="58704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L_clip = min( ρₜ · Âₜ ,  clip(ρₜ, 1−ε, 1+ε) · Âₜ 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350008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ρₜ = π_θ(aₜ|sₜ) / π_old(aₜ|sₜ)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80" y="235000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probability ratio new/old 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551176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Âₜ = Rₜ − V_θ(sₜ)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2551176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normalised advantage (batch-normalised to 0 mean, unit var)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61888" y="2752344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ε = 0.2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69480" y="2752344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clip threshold — hard limit on policy drift per update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172968"/>
            <a:ext cx="6080760" cy="1572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3172968"/>
            <a:ext cx="64008" cy="1572768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0" y="3236975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A040"/>
                </a:solidFill>
              </a:rPr>
              <a:t>Value Term  —  c_v = 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575303"/>
            <a:ext cx="58704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L_value = ( V_θ(sₜ) − Rₜ )²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3950207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V_θ(sₜ)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3950207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value head prediction (reads token 0 in TFX, hₜ in GRU)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61888" y="4151375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Rₜ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9480" y="4151375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per-step return (episode or weighted formulation)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61888" y="4352544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EV →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80" y="4352544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explained variance convergence = calibrated baseline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4773168"/>
            <a:ext cx="6080760" cy="1572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06440" y="4773168"/>
            <a:ext cx="64008" cy="157276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0" y="4837176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6D3A0"/>
                </a:solidFill>
              </a:rPr>
              <a:t>Entropy Bonus  —  c_e = 0.03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5175504"/>
            <a:ext cx="58704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L_entropy = H( π_θ(·|sₜ) )  [Shannon entropy]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5550407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H(π)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69480" y="5550407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encourages spread over all 29 actions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61888" y="5751575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c_e = 0.03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9480" y="5751575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small enough not to dominate; large enough to prevent collapse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5952744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KL ≤ 0.05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69480" y="5952744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additional per-mini-batch early-stop guard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Return Formulations  &amp;  Credit Assignment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394960" cy="26517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97280"/>
            <a:ext cx="539496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Episode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Rₜ = r  ∀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5212080" cy="13716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Terminal speedup assigned uniformly to all steps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Unbiased maximum-likelihood estimate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 assumptions about which steps were responsible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486400" cy="26517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1430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Instruction-Weighted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Rₜ = r·|ΔIₜ|/Σ|ΔIₛ| + </a:t>
            </a:r>
            <a:r>
              <a:rPr sz="1300" b="0" i="0">
                <a:solidFill>
                  <a:srgbClr val="FFD75E"/>
                </a:solidFill>
              </a:rPr>
              <a:t>0.05</a:t>
            </a:r>
            <a:r>
              <a:rPr sz="1300" b="0" i="0">
                <a:solidFill>
                  <a:srgbClr val="FFFFFF"/>
                </a:solidFill>
              </a:rPr>
              <a:t>·sign(−ΔIₜ) − </a:t>
            </a:r>
            <a:r>
              <a:rPr sz="1300" b="0" i="0">
                <a:solidFill>
                  <a:srgbClr val="FFD75E"/>
                </a:solidFill>
              </a:rPr>
              <a:t>0.025</a:t>
            </a:r>
            <a:r>
              <a:rPr sz="1300" b="0" i="0">
                <a:solidFill>
                  <a:srgbClr val="FFFFFF"/>
                </a:solidFill>
              </a:rPr>
              <a:t>·</a:t>
            </a:r>
            <a:r>
              <a:rPr sz="1300" b="0" i="0">
                <a:solidFill>
                  <a:srgbClr val="FFD75E"/>
                </a:solidFill>
              </a:rPr>
              <a:t>𝟙</a:t>
            </a:r>
            <a:r>
              <a:rPr sz="1300" b="0" i="0">
                <a:solidFill>
                  <a:srgbClr val="FFFFFF"/>
                </a:solidFill>
              </a:rPr>
              <a:t>[noopₜ]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0280"/>
            <a:ext cx="5303520" cy="12801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Redistributes credit proportional to instruction reduction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No-op penalty </a:t>
            </a:r>
            <a:r>
              <a:rPr sz="1400" b="0" i="0">
                <a:solidFill>
                  <a:srgbClr val="FFD75E"/>
                </a:solidFill>
              </a:rPr>
              <a:t>0.025</a:t>
            </a:r>
            <a:r>
              <a:rPr sz="1400" b="0" i="0">
                <a:solidFill>
                  <a:srgbClr val="CCD6E8"/>
                </a:solidFill>
              </a:rPr>
              <a:t>; direction bonus </a:t>
            </a:r>
            <a:r>
              <a:rPr sz="1400" b="0" i="0">
                <a:solidFill>
                  <a:srgbClr val="FFD75E"/>
                </a:solidFill>
              </a:rPr>
              <a:t>0.05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Sum of first term = r (total reward conserved)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11338560" cy="1965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886200"/>
            <a:ext cx="11338560" cy="38404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CCD6E8"/>
                </a:solidFill>
              </a:rPr>
              <a:t>IR-Step Return  (Ablation)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43400"/>
            <a:ext cx="11155680" cy="12801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Per-step normalised instruction-count delta as reward — bypasses benchmarking entirely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Dense, low-noise signal: verifies model architecture + PPO loop independently of sparse runtime reward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Not a policy evaluated for speedup; training results are an infrastructure verification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8932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CCD6E8"/>
                </a:solidFill>
              </a:rPr>
              <a:t>No-op threshold: |ΔI| &lt; 0.01 AND L1(Δfeatures) &lt; 0.05  (dual threshold handles loop-rotate/licm restructuring without instruction-count change)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Auto-TFX + Episode Return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Auto-TFX + Episode Return — Training Curves</a:t>
            </a:r>
          </a:p>
        </p:txBody>
      </p:sp>
      <p:pic>
        <p:nvPicPr>
          <p:cNvPr id="5" name="Picture 4" descr="train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132320" cy="4509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Mean speedup: −</a:t>
            </a:r>
            <a:r>
              <a:rPr sz="1500" b="0" i="0">
                <a:solidFill>
                  <a:srgbClr val="FFD75E"/>
                </a:solidFill>
              </a:rPr>
              <a:t>0.40</a:t>
            </a:r>
            <a:r>
              <a:rPr sz="1500" b="0" i="0">
                <a:solidFill>
                  <a:srgbClr val="CCD6E8"/>
                </a:solidFill>
              </a:rPr>
              <a:t> → </a:t>
            </a:r>
            <a:r>
              <a:rPr sz="1500" b="0" i="0">
                <a:solidFill>
                  <a:srgbClr val="FFD75E"/>
                </a:solidFill>
              </a:rPr>
              <a:t>+0.149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Explained Variance → ≈ </a:t>
            </a:r>
            <a:r>
              <a:rPr sz="1500" b="0" i="0">
                <a:solidFill>
                  <a:srgbClr val="FFD75E"/>
                </a:solidFill>
              </a:rPr>
              <a:t>1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Value head learns accurate return predictions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delta features sufficient for value function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Entropy: max → ~</a:t>
            </a:r>
            <a:r>
              <a:rPr sz="1500" b="0" i="0">
                <a:solidFill>
                  <a:srgbClr val="FFD75E"/>
                </a:solidFill>
              </a:rPr>
              <a:t>30%</a:t>
            </a:r>
            <a:r>
              <a:rPr sz="1500" b="0" i="0">
                <a:solidFill>
                  <a:srgbClr val="CCD6E8"/>
                </a:solidFill>
              </a:rPr>
              <a:t> of max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Progressive concentration, no collapse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No-op % falls across training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Policy learns to prefer impactful passes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interpreter and kmp_search lead per-function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Consistent with high random-search ceiling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Auto-TFX + Episode Return — Evaluation vs -O3</a:t>
            </a:r>
          </a:p>
        </p:txBody>
      </p:sp>
      <p:pic>
        <p:nvPicPr>
          <p:cNvPr id="5" name="Picture 4" descr="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6858000" cy="33136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60920" y="1143000"/>
            <a:ext cx="4663440" cy="64008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207008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1207008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rand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207008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rand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207008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greedy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1207008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samp best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819656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883664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array_reduction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1883664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−0.791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1883664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883664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1883664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+0.104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2496312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560320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binary_tree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560320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560320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2560320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+0.086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3172968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236975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fft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36975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−0.677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236975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3236975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3236975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+0.072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3849624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3913632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interpreter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913632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−0.260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913632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+0.266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913632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3913632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+0.283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4526280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4590288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kmp_search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590288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−0.107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590288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+0.191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590288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4590288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5202936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5266944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poly_eval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5266944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−0.181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5266944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+0.140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5266944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+0.144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5266944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+0.145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5897880"/>
            <a:ext cx="4663440" cy="658368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0" y="596188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Greedy beats -O3 on all 6 functions  ·  mean +15.5%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Benchmarking Harness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4A9EFF"/>
                </a:solidFill>
              </a:rPr>
              <a:t>Benchmarking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81912"/>
            <a:ext cx="5394960" cy="21031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FFD75E"/>
                </a:solidFill>
              </a:rPr>
              <a:t>201</a:t>
            </a:r>
            <a:r>
              <a:rPr sz="1400" b="0" i="0">
                <a:solidFill>
                  <a:srgbClr val="CCD6E8"/>
                </a:solidFill>
              </a:rPr>
              <a:t> timed iterations per measurement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10%</a:t>
            </a:r>
            <a:r>
              <a:rPr sz="1400" b="0" i="0">
                <a:solidFill>
                  <a:srgbClr val="CCD6E8"/>
                </a:solidFill>
              </a:rPr>
              <a:t> trimmed mean — removes </a:t>
            </a:r>
            <a:r>
              <a:rPr sz="1400" b="0" i="0">
                <a:solidFill>
                  <a:srgbClr val="FFD75E"/>
                </a:solidFill>
              </a:rPr>
              <a:t>10</a:t>
            </a:r>
            <a:r>
              <a:rPr sz="1400" b="0" i="0">
                <a:solidFill>
                  <a:srgbClr val="CCD6E8"/>
                </a:solidFill>
              </a:rPr>
              <a:t> outliers each tail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5</a:t>
            </a:r>
            <a:r>
              <a:rPr sz="1400" b="0" i="0">
                <a:solidFill>
                  <a:srgbClr val="CCD6E8"/>
                </a:solidFill>
              </a:rPr>
              <a:t> warm-up runs before timing begins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CLOCK_MONOTONIC — monotonic wall-clock, nanosecond resolution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Serial baselines collected once under stable single-threaded conditions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Episode collection: parallelised across all CPU cores via Rayon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767328"/>
            <a:ext cx="5394960" cy="24231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22191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Parallel Noise Characterisation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24528"/>
            <a:ext cx="5212080" cy="18288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bench-noise: for each binary, run solo then </a:t>
            </a:r>
            <a:r>
              <a:rPr sz="1300" b="0" i="0">
                <a:solidFill>
                  <a:srgbClr val="FFD75E"/>
                </a:solidFill>
              </a:rPr>
              <a:t>16</a:t>
            </a:r>
            <a:r>
              <a:rPr sz="1300" b="0" i="0">
                <a:solidFill>
                  <a:srgbClr val="CCD6E8"/>
                </a:solidFill>
              </a:rPr>
              <a:t> Rayon workers simultaneously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Parallel overhead: small and consistent across all </a:t>
            </a:r>
            <a:r>
              <a:rPr sz="1300" b="0" i="0">
                <a:solidFill>
                  <a:srgbClr val="FFD75E"/>
                </a:solidFill>
              </a:rPr>
              <a:t>6</a:t>
            </a:r>
            <a:r>
              <a:rPr sz="1300" b="0" i="0">
                <a:solidFill>
                  <a:srgbClr val="CCD6E8"/>
                </a:solidFill>
              </a:rPr>
              <a:t> benchmarks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Noise margin </a:t>
            </a:r>
            <a:r>
              <a:rPr sz="1300" b="0" i="0">
                <a:solidFill>
                  <a:srgbClr val="FFD75E"/>
                </a:solidFill>
              </a:rPr>
              <a:t>1.01</a:t>
            </a:r>
            <a:r>
              <a:rPr sz="1300" b="0" i="0">
                <a:solidFill>
                  <a:srgbClr val="CCD6E8"/>
                </a:solidFill>
              </a:rPr>
              <a:t> on -O</a:t>
            </a:r>
            <a:r>
              <a:rPr sz="1300" b="0" i="0">
                <a:solidFill>
                  <a:srgbClr val="FFD75E"/>
                </a:solidFill>
              </a:rPr>
              <a:t>3</a:t>
            </a:r>
            <a:r>
              <a:rPr sz="1300" b="0" i="0">
                <a:solidFill>
                  <a:srgbClr val="CCD6E8"/>
                </a:solidFill>
              </a:rPr>
              <a:t> baseline during training: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Policy must beat -O</a:t>
            </a:r>
            <a:r>
              <a:rPr sz="1300" b="0" i="0">
                <a:solidFill>
                  <a:srgbClr val="FFD75E"/>
                </a:solidFill>
              </a:rPr>
              <a:t>3</a:t>
            </a:r>
            <a:r>
              <a:rPr sz="1300" b="0" i="0">
                <a:solidFill>
                  <a:srgbClr val="CCD6E8"/>
                </a:solidFill>
              </a:rPr>
              <a:t> by &gt; noise floor to receive positive reward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Prevents noise-driven false positives in the reward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143000"/>
            <a:ext cx="5669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4A9EFF"/>
                </a:solidFill>
              </a:rPr>
              <a:t>Reproducibility Verification  (diagnose)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581912"/>
            <a:ext cx="5669280" cy="26060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Problem: training speedups collected under parallel timing noise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diagnose re-benchmarks top sequences serially under controlled conditions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20</a:t>
            </a:r>
            <a:r>
              <a:rPr sz="1400" b="0" i="0">
                <a:solidFill>
                  <a:srgbClr val="CCD6E8"/>
                </a:solidFill>
              </a:rPr>
              <a:t> independent serial benchmark runs per sequence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CCD6E8"/>
                </a:solidFill>
              </a:rPr>
              <a:t>Reports mean, std, and full distribution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Result: cached training speedups correlate strongly with re-measured values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Per-sequence distributions are tight → reward signal is reproducible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Dominant sequences from interpreter and kmp_search — consistent with EDA ceiling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315968"/>
            <a:ext cx="5669280" cy="2331720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074920"/>
            <a:ext cx="5669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555577"/>
                </a:solidFill>
              </a:rPr>
              <a:t>bench_noise-{fft,kmp}.png · diagnose.png
[cargo run -- bench-noise  /  cargo run -- plot-diagnose]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53035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Value head (EV ≈ </a:t>
            </a:r>
            <a:r>
              <a:rPr sz="1500" b="0" i="0">
                <a:solidFill>
                  <a:srgbClr val="FFD75E"/>
                </a:solidFill>
              </a:rPr>
              <a:t>1</a:t>
            </a:r>
            <a:r>
              <a:rPr sz="1500" b="0" i="0">
                <a:solidFill>
                  <a:srgbClr val="CCD6E8"/>
                </a:solidFill>
              </a:rPr>
              <a:t>) validates feature representation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delta features + action history sufficient to predict speedup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Batch-normalised advantages → ~</a:t>
            </a:r>
            <a:r>
              <a:rPr sz="1500" b="0" i="0">
                <a:solidFill>
                  <a:srgbClr val="FFD75E"/>
                </a:solidFill>
              </a:rPr>
              <a:t>50%</a:t>
            </a:r>
            <a:r>
              <a:rPr sz="1500" b="0" i="0">
                <a:solidFill>
                  <a:srgbClr val="CCD6E8"/>
                </a:solidFill>
              </a:rPr>
              <a:t> reinforce / ~</a:t>
            </a:r>
            <a:r>
              <a:rPr sz="1500" b="0" i="0">
                <a:solidFill>
                  <a:srgbClr val="FFD75E"/>
                </a:solidFill>
              </a:rPr>
              <a:t>50%</a:t>
            </a:r>
            <a:r>
              <a:rPr sz="1500" b="0" i="0">
                <a:solidFill>
                  <a:srgbClr val="CCD6E8"/>
                </a:solidFill>
              </a:rPr>
              <a:t> penalise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Episode return is theoretically clean: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Only externally measured quantity is r; uniform is unbiased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Value function disentangles per-step credit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Instruction-weighted shaping trades bias for lower variance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Total reward conserved; only redistribution changes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Helps value head early when policy makes many no-ops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Transformer vs GRU: complementary memory hypotheses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GRU: recency bias — free inductive prior, low parameter cost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TFX: non-local attention — learns which step-pairs matter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43000"/>
            <a:ext cx="5897880" cy="5303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188720"/>
            <a:ext cx="5715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5E"/>
                </a:solidFill>
              </a:rPr>
              <a:t>Stop-Token Behaviour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715000" cy="32004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Policy never learns to Stop early — always uses all K=</a:t>
            </a:r>
            <a:r>
              <a:rPr sz="1300" b="0" i="0">
                <a:solidFill>
                  <a:srgbClr val="FFD75E"/>
                </a:solidFill>
              </a:rPr>
              <a:t>20</a:t>
            </a:r>
            <a:r>
              <a:rPr sz="1300" b="0" i="0">
                <a:solidFill>
                  <a:srgbClr val="CCD6E8"/>
                </a:solidFill>
              </a:rPr>
              <a:t> steps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Rational given credit-assignment structure: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Q(Stop) = current speedup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Q(any pass) = E[future speedup] — uncertain, possibly higher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No-op penalty helps at the margin but doesn't fix the asymmetry: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Cost of stopping: unbounded foregone gain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Cost of one more pass: at most p = </a:t>
            </a:r>
            <a:r>
              <a:rPr sz="1300" b="0" i="0">
                <a:solidFill>
                  <a:srgbClr val="FFD75E"/>
                </a:solidFill>
              </a:rPr>
              <a:t>0.025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Many top sequences: </a:t>
            </a:r>
            <a:r>
              <a:rPr sz="1300" b="0" i="0">
                <a:solidFill>
                  <a:srgbClr val="FFD75E"/>
                </a:solidFill>
              </a:rPr>
              <a:t>5</a:t>
            </a:r>
            <a:r>
              <a:rPr sz="1300" b="0" i="0">
                <a:solidFill>
                  <a:srgbClr val="CCD6E8"/>
                </a:solidFill>
              </a:rPr>
              <a:t>–</a:t>
            </a:r>
            <a:r>
              <a:rPr sz="1300" b="0" i="0">
                <a:solidFill>
                  <a:srgbClr val="FFD75E"/>
                </a:solidFill>
              </a:rPr>
              <a:t>7</a:t>
            </a:r>
            <a:r>
              <a:rPr sz="1300" b="0" i="0">
                <a:solidFill>
                  <a:srgbClr val="CCD6E8"/>
                </a:solidFill>
              </a:rPr>
              <a:t> repetitions of dominant pass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Repeating is safe and occasionally lucky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956048"/>
            <a:ext cx="5715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56D3A0"/>
                </a:solidFill>
              </a:rPr>
              <a:t>Potential Fix: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349240"/>
            <a:ext cx="5715000" cy="8229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Per-step length cost, or Stop bonus ≥ E[marginal return from one more pass]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2560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Limitations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Benchmark timing noise limits per-episode credit precision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Training set of </a:t>
            </a:r>
            <a:r>
              <a:rPr sz="1600" b="0" i="0">
                <a:solidFill>
                  <a:srgbClr val="FFD75E"/>
                </a:solidFill>
              </a:rPr>
              <a:t>6</a:t>
            </a:r>
            <a:r>
              <a:rPr sz="1600" b="0" i="0">
                <a:solidFill>
                  <a:srgbClr val="CCD6E8"/>
                </a:solidFill>
              </a:rPr>
              <a:t> functions is small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Pass parameters not tuned (loop-unroll count always default)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Effective horizon = K; Stop token unused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31920"/>
            <a:ext cx="5394960" cy="2560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Ongoing Work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Architecture comparison: Auto-GRU vs Auto-TFX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Return comparison: episode vs instruction-weighted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Hold-out pool evaluation on all </a:t>
            </a:r>
            <a:r>
              <a:rPr sz="1600" b="0" i="0">
                <a:solidFill>
                  <a:srgbClr val="FFD75E"/>
                </a:solidFill>
              </a:rPr>
              <a:t>38</a:t>
            </a:r>
            <a:r>
              <a:rPr sz="1600" b="0" i="0">
                <a:solidFill>
                  <a:srgbClr val="CCD6E8"/>
                </a:solidFill>
              </a:rPr>
              <a:t>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589788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Future Directions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Per-step length cost or Stop bonus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Extend pass menu to cover more LLVM </a:t>
            </a:r>
            <a:r>
              <a:rPr sz="1600" b="0" i="0">
                <a:solidFill>
                  <a:srgbClr val="FFD75E"/>
                </a:solidFill>
              </a:rPr>
              <a:t>20</a:t>
            </a:r>
            <a:r>
              <a:rPr sz="1600" b="0" i="0">
                <a:solidFill>
                  <a:srgbClr val="CCD6E8"/>
                </a:solidFill>
              </a:rPr>
              <a:t> transforms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Transfer to larger, real-world C/C++ programs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Beam search or MCTS at inference time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Combine offline bench-cache with online RL updates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Pass hyperparameter tuning as part of the action space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Cross-architecture generalisation (ARM, RISC-V)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972800" cy="46634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Autoregressive RL policies learn to beat -O</a:t>
            </a:r>
            <a:r>
              <a:rPr sz="1700" b="0" i="0">
                <a:solidFill>
                  <a:srgbClr val="FFD75E"/>
                </a:solidFill>
              </a:rPr>
              <a:t>3</a:t>
            </a:r>
            <a:r>
              <a:rPr sz="1700" b="0" i="0">
                <a:solidFill>
                  <a:srgbClr val="FFFFFF"/>
                </a:solidFill>
              </a:rPr>
              <a:t> on every training benchmark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Auto-TFX + episode return: </a:t>
            </a:r>
            <a:r>
              <a:rPr sz="1700" b="0" i="0">
                <a:solidFill>
                  <a:srgbClr val="FFD75E"/>
                </a:solidFill>
              </a:rPr>
              <a:t>6</a:t>
            </a:r>
            <a:r>
              <a:rPr sz="1700" b="0" i="0">
                <a:solidFill>
                  <a:srgbClr val="FFFFFF"/>
                </a:solidFill>
              </a:rPr>
              <a:t>–</a:t>
            </a:r>
            <a:r>
              <a:rPr sz="1700" b="0" i="0">
                <a:solidFill>
                  <a:srgbClr val="FFD75E"/>
                </a:solidFill>
              </a:rPr>
              <a:t>28%</a:t>
            </a:r>
            <a:r>
              <a:rPr sz="1700" b="0" i="0">
                <a:solidFill>
                  <a:srgbClr val="FFFFFF"/>
                </a:solidFill>
              </a:rPr>
              <a:t> speedup, mean </a:t>
            </a:r>
            <a:r>
              <a:rPr sz="1700" b="0" i="0">
                <a:solidFill>
                  <a:srgbClr val="FFD75E"/>
                </a:solidFill>
              </a:rPr>
              <a:t>15.5%</a:t>
            </a:r>
            <a:r>
              <a:rPr sz="1700" b="0" i="0">
                <a:solidFill>
                  <a:srgbClr val="FFFFFF"/>
                </a:solidFill>
              </a:rPr>
              <a:t> across </a:t>
            </a:r>
            <a:r>
              <a:rPr sz="1700" b="0" i="0">
                <a:solidFill>
                  <a:srgbClr val="FFD75E"/>
                </a:solidFill>
              </a:rPr>
              <a:t>6</a:t>
            </a:r>
            <a:r>
              <a:rPr sz="1700" b="0" i="0">
                <a:solidFill>
                  <a:srgbClr val="FFFFFF"/>
                </a:solidFill>
              </a:rPr>
              <a:t> functions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Explained Variance ≈ </a:t>
            </a:r>
            <a:r>
              <a:rPr sz="1700" b="0" i="0">
                <a:solidFill>
                  <a:srgbClr val="FFD75E"/>
                </a:solidFill>
              </a:rPr>
              <a:t>1</a:t>
            </a:r>
            <a:r>
              <a:rPr sz="1700" b="0" i="0">
                <a:solidFill>
                  <a:srgbClr val="FFFFFF"/>
                </a:solidFill>
              </a:rPr>
              <a:t> confirms the IR delta representation and learned value baseline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D75E"/>
                </a:solidFill>
              </a:rPr>
              <a:t>48</a:t>
            </a:r>
            <a:r>
              <a:rPr sz="1700" b="0" i="0">
                <a:solidFill>
                  <a:srgbClr val="FFFFFF"/>
                </a:solidFill>
              </a:rPr>
              <a:t>-dim delta features + action history are sufficient to predict terminal speedup per-step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Two architectures (Auto-GRU, Auto-TFX) × two return formulations provide systematic comparison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Stop-token analysis reveals a structural incentive to exhaust the horizon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Rational response to terminal reward + unbounded expected future gain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Design fix: per-step length cost or Stop bonus calibrated to marginal return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Key insight: IR state must capture structural position within the function body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Delta representation encodes how instruction composition shifts across positional chunks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Structural changes like loop-rotate and licm are invisible to global count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CCD6E8"/>
                </a:solidFill>
              </a:rPr>
              <a:t>Learning LLVM Pass Sequences via Reinforcement Learning with Autoregressive Policies  ·  Evan Black  ·  ODU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