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Department of Modeling &amp; Simulation  ·  Old Dominion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Learning LLVM Pass Sequences
via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 i="0">
                <a:solidFill>
                  <a:srgbClr val="56D3A0"/>
                </a:solidFill>
              </a:rPr>
              <a:t>with Autoregressive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Evan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</a:rPr>
              <a:t>eblac013@odu.edu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4A9EFF"/>
                </a:solidFill>
              </a:rPr>
              <a:t>Reinforcement Learning  ·  LLVM  ·  Pass Ordering  ·  PPO  ·  Transformer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Background: LLVM, IR, and Optimization Passes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2286000" cy="10515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2286000" cy="31089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152144"/>
            <a:ext cx="2176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C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" y="1481328"/>
            <a:ext cx="21762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CCD6E8"/>
                </a:solidFill>
              </a:rPr>
              <a:t>.c file
platform-agnostic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1499616"/>
            <a:ext cx="2194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115568"/>
            <a:ext cx="2286000" cy="10515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1115568"/>
            <a:ext cx="2286000" cy="310896"/>
          </a:xfrm>
          <a:prstGeom prst="rect">
            <a:avLst/>
          </a:prstGeom>
          <a:solidFill>
            <a:srgbClr val="FFD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1152144"/>
            <a:ext cx="2176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LLVM 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1481328"/>
            <a:ext cx="21762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CCD6E8"/>
                </a:solidFill>
              </a:rPr>
              <a:t>typed SSA
platform-independent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499616"/>
            <a:ext cx="2194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79" y="1115568"/>
            <a:ext cx="2286000" cy="10515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79" y="1115568"/>
            <a:ext cx="2286000" cy="310896"/>
          </a:xfrm>
          <a:prstGeom prst="rect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95543" y="1152144"/>
            <a:ext cx="2176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Optimized 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5543" y="1481328"/>
            <a:ext cx="21762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CCD6E8"/>
                </a:solidFill>
              </a:rPr>
              <a:t>pass pipeline
applied by opt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1499616"/>
            <a:ext cx="2194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999" y="1115568"/>
            <a:ext cx="2286000" cy="10515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999" y="1115568"/>
            <a:ext cx="2286000" cy="310896"/>
          </a:xfrm>
          <a:prstGeom prst="rect">
            <a:avLst/>
          </a:prstGeom>
          <a:solidFill>
            <a:srgbClr val="56D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5863" y="1152144"/>
            <a:ext cx="2176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Native Binary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3" y="1481328"/>
            <a:ext cx="21762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CCD6E8"/>
                </a:solidFill>
              </a:rPr>
              <a:t>machine code
for target 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59" y="2221992"/>
            <a:ext cx="2194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88AACC"/>
                </a:solidFill>
              </a:rPr>
              <a:t>clang -O3
-Xclang -disable-llvm-optzns
-emit-llvm -S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79" y="2221992"/>
            <a:ext cx="2194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88AACC"/>
                </a:solidFill>
              </a:rPr>
              <a:t>opt --passes=
"inline,sroa,mem2reg,..."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2221992"/>
            <a:ext cx="2194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88AACC"/>
                </a:solidFill>
              </a:rPr>
              <a:t>clang -O3
-Xclang -disable-llvm-passes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798064"/>
            <a:ext cx="5074920" cy="34930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852928"/>
            <a:ext cx="4892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4A9EFF"/>
                </a:solidFill>
              </a:rPr>
              <a:t>What is LLVM IR?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236976"/>
            <a:ext cx="4892040" cy="292608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Platform-independent intermediate representation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Static Single Assignment (SSA) form: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  • Every variable defined exactly once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  • phi nodes merge values from different paths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Typed: i32, float, ptr, vectors, structs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Explicit control-flow graph (basic blocks + branches)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Close to machine code but still target-agnostic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Right level for optimization: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  • High enough to reason about semantics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  • Low enough to see memory, loops, calls directly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798064"/>
            <a:ext cx="3931920" cy="3493008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2852928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6D3A0"/>
                </a:solidFill>
              </a:rPr>
              <a:t>Example: array_sum  (before passes)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3200400"/>
            <a:ext cx="3840480" cy="2999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8D8A8"/>
                </a:solidFill>
              </a:rPr>
              <a:t>define i32 @sum(ptr %arr, i32 %n) {
entry:
  %res = alloca i32          ; stack slot
  store i32 0, ptr %res
  br label %loop
loop:
  %i = phi i32 [0,%entry],[%i2,%loop]
  %p = getelementptr i32,ptr %arr, i32 %i
  %v = load i32, ptr %p
  %s = load i32, ptr %res
  %s2 = add i32 %s, %v
  store i32 %s2, ptr %res    ; mem2reg promotes
  %i2 = add i32 %i, 1
  %done = icmp eq i32 %i2, %n
  br i1 %done, label %exit, label %loop
exit:
  %r = load i32, ptr %res
  ret i32 %r
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798064"/>
            <a:ext cx="2331720" cy="34930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2852928"/>
            <a:ext cx="2148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After mem2reg + instcombine: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200400"/>
            <a:ext cx="2212848" cy="2999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8D8FF"/>
                </a:solidFill>
              </a:rPr>
              <a:t>define i32 @sum(ptr %arr,
               i32 %n) {
entry:
  br label %loop
loop:
  %i = phi i32 [0,%e],[%i2,%l]
  %s = phi i32 [0,%e],[%s2,%l]
  %p = gep i32,ptr %arr,%i
  %v = load i32, ptr %p
  %s2 = add i32 %s, %v
  %i2 = add i32 %i, 1
  %ok = icmp ne i32 %i2, %n
  br i1 %ok, %l, %exit
exit:
  ret i32 %s2
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Motivation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6400800" cy="512064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700">
                <a:solidFill>
                  <a:srgbClr val="CCD6E8"/>
                </a:solidFill>
              </a:rPr>
              <a:t>▸ </a:t>
            </a:r>
            <a:r>
              <a:rPr sz="1700" b="0" i="0">
                <a:solidFill>
                  <a:srgbClr val="CCD6E8"/>
                </a:solidFill>
              </a:rPr>
              <a:t>LLVM exposes hundreds of individual optimization passes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CCD6E8"/>
                </a:solidFill>
              </a:rPr>
              <a:t>  • </a:t>
            </a:r>
            <a:r>
              <a:rPr sz="1700" b="0" i="0">
                <a:solidFill>
                  <a:srgbClr val="CCD6E8"/>
                </a:solidFill>
              </a:rPr>
              <a:t>inlining, vectorization, loop unrolling, dead-code elim, …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CCD6E8"/>
                </a:solidFill>
              </a:rPr>
              <a:t>▸ </a:t>
            </a:r>
            <a:r>
              <a:rPr sz="1700" b="0" i="0">
                <a:solidFill>
                  <a:srgbClr val="CCD6E8"/>
                </a:solidFill>
              </a:rPr>
              <a:t>Order matters: inline before const-prop → more constants to fold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CCD6E8"/>
                </a:solidFill>
              </a:rPr>
              <a:t>▸ </a:t>
            </a:r>
            <a:r>
              <a:rPr sz="1700" b="0" i="0">
                <a:solidFill>
                  <a:srgbClr val="CCD6E8"/>
                </a:solidFill>
              </a:rPr>
              <a:t>-O</a:t>
            </a:r>
            <a:r>
              <a:rPr sz="1700" b="0" i="0">
                <a:solidFill>
                  <a:srgbClr val="FFD75E"/>
                </a:solidFill>
              </a:rPr>
              <a:t>3</a:t>
            </a:r>
            <a:r>
              <a:rPr sz="1700" b="0" i="0">
                <a:solidFill>
                  <a:srgbClr val="CCD6E8"/>
                </a:solidFill>
              </a:rPr>
              <a:t> uses a fixed pipeline tuned for the average program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CCD6E8"/>
                </a:solidFill>
              </a:rPr>
              <a:t>  • </a:t>
            </a:r>
            <a:r>
              <a:rPr sz="1700" b="0" i="0">
                <a:solidFill>
                  <a:srgbClr val="CCD6E8"/>
                </a:solidFill>
              </a:rPr>
              <a:t>Suboptimal for any specific program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CCD6E8"/>
                </a:solidFill>
              </a:rPr>
              <a:t>▸ </a:t>
            </a:r>
            <a:r>
              <a:rPr sz="1700" b="0" i="0">
                <a:solidFill>
                  <a:srgbClr val="CCD6E8"/>
                </a:solidFill>
              </a:rPr>
              <a:t>Finding the best pipeline is NP-hard (phase-ordering problem)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CCD6E8"/>
                </a:solidFill>
              </a:rPr>
              <a:t>▸ </a:t>
            </a:r>
            <a:r>
              <a:rPr sz="1700" b="0" i="0">
                <a:solidFill>
                  <a:srgbClr val="CCD6E8"/>
                </a:solidFill>
              </a:rPr>
              <a:t>ML offers a principled alternative: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CCD6E8"/>
                </a:solidFill>
              </a:rPr>
              <a:t>  • </a:t>
            </a:r>
            <a:r>
              <a:rPr sz="1700" b="0" i="0">
                <a:solidFill>
                  <a:srgbClr val="CCD6E8"/>
                </a:solidFill>
              </a:rPr>
              <a:t>Map IR features → pass choices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CCD6E8"/>
                </a:solidFill>
              </a:rPr>
              <a:t>  • </a:t>
            </a:r>
            <a:r>
              <a:rPr sz="1700" b="0" i="0">
                <a:solidFill>
                  <a:srgbClr val="CCD6E8"/>
                </a:solidFill>
              </a:rPr>
              <a:t>Train on real execution-time feedback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CCD6E8"/>
                </a:solidFill>
              </a:rPr>
              <a:t>  • </a:t>
            </a:r>
            <a:r>
              <a:rPr sz="1700" b="0" i="0">
                <a:solidFill>
                  <a:srgbClr val="CCD6E8"/>
                </a:solidFill>
              </a:rPr>
              <a:t>Generalise to unseen programs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188720"/>
            <a:ext cx="4754880" cy="50292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37160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56D3A0"/>
                </a:solidFill>
              </a:rPr>
              <a:t>The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828800"/>
            <a:ext cx="4480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Beat -O3 on individual programs by learning a per-program pass sequence.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10896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56D3A0"/>
                </a:solidFill>
              </a:rPr>
              <a:t>Prior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566160"/>
            <a:ext cx="4480560" cy="237744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AutoPhase — LSTM + PPO, targets IR size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CompilerGym — standard RL env for LLVM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MLGO — learned inlining at Google scale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MILEPOST — nearest-neighbour on static features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  • Our focus: wall-clock speedup, offline corpus + autoregressive 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MDP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611880" cy="512064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61188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</a:rPr>
              <a:t>State  sₜ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45920"/>
            <a:ext cx="34290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D75E"/>
                </a:solidFill>
              </a:rPr>
              <a:t>48-dim IR delta vector  fₜ ∈ ℝ⁴⁸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CCD6E8"/>
                </a:solidFill>
              </a:rPr>
              <a:t>3 chunk-pairs × 16 dims each: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6D3A0"/>
                </a:solidFill>
              </a:rPr>
              <a:t>Opcode categories (12):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24328"/>
            <a:ext cx="3337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memory · int-arith · float-arith · bitwise · compare · 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62656"/>
            <a:ext cx="3337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call · control · phi/select · vector · block-boundary · other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37560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6D3A0"/>
                </a:solidFill>
              </a:rPr>
              <a:t>Metadata rates (4):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3016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tbaa · llvm.loop · alias.scope · noalias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950208"/>
            <a:ext cx="3429000" cy="27432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023360"/>
            <a:ext cx="34290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Δ = chunk(c+1) − chunk(c)  for c ∈ {0,1,2}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407408"/>
            <a:ext cx="3429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Invariant to function size; responds to
loop-rotate, licm, sroa structural shifts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097280"/>
            <a:ext cx="3840480" cy="512064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1097280"/>
            <a:ext cx="3840480" cy="457200"/>
          </a:xfrm>
          <a:prstGeom prst="rect">
            <a:avLst/>
          </a:prstGeom>
          <a:solidFill>
            <a:srgbClr val="56D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1143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</a:rPr>
              <a:t>Action  aₜ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1645920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D75E"/>
                </a:solidFill>
              </a:rPr>
              <a:t>29 total:  28 passes  +  1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02996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A9EFF"/>
                </a:solidFill>
              </a:rPr>
              <a:t>Example passes: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340864"/>
            <a:ext cx="1115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56D3A0"/>
                </a:solidFill>
              </a:rPr>
              <a:t>inline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40864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removes call overhead; exposes callee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606040"/>
            <a:ext cx="1115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56D3A0"/>
                </a:solidFill>
              </a:rPr>
              <a:t>sroa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606040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scalar replace aggregates → registers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2871216"/>
            <a:ext cx="1115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56D3A0"/>
                </a:solidFill>
              </a:rPr>
              <a:t>mem2reg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871216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alloca → SSA  (prerequisite for most)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136391"/>
            <a:ext cx="1115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56D3A0"/>
                </a:solidFill>
              </a:rPr>
              <a:t>instcombine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136391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fold/simplify instruction patterns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3401568"/>
            <a:ext cx="1115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56D3A0"/>
                </a:solidFill>
              </a:rPr>
              <a:t>simplifycfg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401568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clean dead blocks, merge branches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666744"/>
            <a:ext cx="1115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56D3A0"/>
                </a:solidFill>
              </a:rPr>
              <a:t>loop-rotate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666744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canonicalize loops for LICM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931920"/>
            <a:ext cx="1115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56D3A0"/>
                </a:solidFill>
              </a:rPr>
              <a:t>licm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3931920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hoist loop-invariant code 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197096"/>
            <a:ext cx="1115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56D3A0"/>
                </a:solidFill>
              </a:rPr>
              <a:t>loop-unroll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4197096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replicate loop body N times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462272"/>
            <a:ext cx="1115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56D3A0"/>
                </a:solidFill>
              </a:rPr>
              <a:t>gvn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4462272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global value numbering / CSE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4727448"/>
            <a:ext cx="1115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56D3A0"/>
                </a:solidFill>
              </a:rPr>
              <a:t>Stop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727448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terminate early → compile binary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1097280"/>
            <a:ext cx="3730752" cy="512064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1097280"/>
            <a:ext cx="3730752" cy="457200"/>
          </a:xfrm>
          <a:prstGeom prst="rect">
            <a:avLst/>
          </a:prstGeom>
          <a:solidFill>
            <a:srgbClr val="FFD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1143000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</a:rPr>
              <a:t>Reward  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1645920"/>
            <a:ext cx="35478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Terminal speedup vs -O3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2029968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D75E"/>
                </a:solidFill>
              </a:rPr>
              <a:t>r = (t_O3 − t_policy) / t_O3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2450592"/>
            <a:ext cx="35478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56D3A0"/>
                </a:solidFill>
              </a:rPr>
              <a:t>Positive = faster than -O3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2779776"/>
            <a:ext cx="3456432" cy="2816352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2834640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A9EFF"/>
                </a:solidFill>
              </a:rPr>
              <a:t>Concrete example — fft: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318211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t_O3  = 46,509 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349300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t_policy = 41,852 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3822191"/>
            <a:ext cx="3273552" cy="27432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3895344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 = (46,509 − 41,852) / 46,509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242816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= 4,657 / 46,509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4590288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56D3A0"/>
                </a:solidFill>
              </a:rPr>
              <a:t>  = +10.0%  speedup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047488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Trimmed mean · 201 iterations · 5 warm-up
CLOCK_MONOTONIC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Dataset &amp;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CCD6E8"/>
                </a:solidFill>
              </a:rPr>
              <a:t>950k random sequences · 38 benchmarks · bench-cache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Training Landscape — Bench-Cache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931920" cy="544068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61288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Bench-Cache Statistics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91056"/>
            <a:ext cx="3749039" cy="5120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73352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Total 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67335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950,000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39696"/>
            <a:ext cx="3749039" cy="512064"/>
          </a:xfrm>
          <a:prstGeom prst="rect">
            <a:avLst/>
          </a:prstGeom>
          <a:solidFill>
            <a:srgbClr val="12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1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Benchmarks in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221991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38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88336"/>
            <a:ext cx="3749039" cy="5120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70632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Training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77063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36976"/>
            <a:ext cx="3749039" cy="512064"/>
          </a:xfrm>
          <a:prstGeom prst="rect">
            <a:avLst/>
          </a:prstGeom>
          <a:solidFill>
            <a:srgbClr val="12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Sequences / fn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31927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25,000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85615"/>
            <a:ext cx="3749039" cy="5120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67911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Sequence lengths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867911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1 – 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334256"/>
            <a:ext cx="3749039" cy="512064"/>
          </a:xfrm>
          <a:prstGeom prst="rect">
            <a:avLst/>
          </a:prstGeom>
          <a:solidFill>
            <a:srgbClr val="12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16552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Pass menu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41655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28 + Stop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882896"/>
            <a:ext cx="3749039" cy="5120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965192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Baselines per fn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96519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-O0, -O2, -O3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431536"/>
            <a:ext cx="3749039" cy="512064"/>
          </a:xfrm>
          <a:prstGeom prst="rect">
            <a:avLst/>
          </a:prstGeom>
          <a:solidFill>
            <a:srgbClr val="12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13832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Cache format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551383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on-disk key-value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053328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555577"/>
                </a:solidFill>
              </a:rPr>
              <a:t>★ placeholder — update once dataset.jsonl regenerated</a:t>
            </a:r>
          </a:p>
        </p:txBody>
      </p:sp>
      <p:pic>
        <p:nvPicPr>
          <p:cNvPr id="32" name="Picture 31" descr="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7498079" cy="22302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Benchmark Pool &amp; Training Benchmark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074920" cy="1874519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▸ </a:t>
            </a:r>
            <a:r>
              <a:rPr sz="1600" b="0" i="0">
                <a:solidFill>
                  <a:srgbClr val="CCD6E8"/>
                </a:solidFill>
              </a:rPr>
              <a:t>Pool: </a:t>
            </a:r>
            <a:r>
              <a:rPr sz="1600" b="0" i="0">
                <a:solidFill>
                  <a:srgbClr val="FFD75E"/>
                </a:solidFill>
              </a:rPr>
              <a:t>38</a:t>
            </a:r>
            <a:r>
              <a:rPr sz="1600" b="0" i="0">
                <a:solidFill>
                  <a:srgbClr val="CCD6E8"/>
                </a:solidFill>
              </a:rPr>
              <a:t> self-contained C benchmarks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Sorting, numerical, data structures, codecs, recursive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▸ </a:t>
            </a:r>
            <a:r>
              <a:rPr sz="1600" b="0" i="0">
                <a:solidFill>
                  <a:srgbClr val="FFD75E"/>
                </a:solidFill>
              </a:rPr>
              <a:t>25,000</a:t>
            </a:r>
            <a:r>
              <a:rPr sz="1600" b="0" i="0">
                <a:solidFill>
                  <a:srgbClr val="CCD6E8"/>
                </a:solidFill>
              </a:rPr>
              <a:t> random sequences per benchmark → ~</a:t>
            </a:r>
            <a:r>
              <a:rPr sz="1600" b="0" i="0">
                <a:solidFill>
                  <a:srgbClr val="FFD75E"/>
                </a:solidFill>
              </a:rPr>
              <a:t>950</a:t>
            </a:r>
            <a:r>
              <a:rPr sz="1600" b="0" i="0">
                <a:solidFill>
                  <a:srgbClr val="CCD6E8"/>
                </a:solidFill>
              </a:rPr>
              <a:t>k entries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▸ </a:t>
            </a:r>
            <a:r>
              <a:rPr sz="1600" b="0" i="0">
                <a:solidFill>
                  <a:srgbClr val="FFD75E"/>
                </a:solidFill>
              </a:rPr>
              <a:t>3</a:t>
            </a:r>
            <a:r>
              <a:rPr sz="1600" b="0" i="0">
                <a:solidFill>
                  <a:srgbClr val="CCD6E8"/>
                </a:solidFill>
              </a:rPr>
              <a:t> baselines (-O</a:t>
            </a:r>
            <a:r>
              <a:rPr sz="1600" b="0" i="0">
                <a:solidFill>
                  <a:srgbClr val="FFD75E"/>
                </a:solidFill>
              </a:rPr>
              <a:t>0,</a:t>
            </a:r>
            <a:r>
              <a:rPr sz="1600" b="0" i="0">
                <a:solidFill>
                  <a:srgbClr val="CCD6E8"/>
                </a:solidFill>
              </a:rPr>
              <a:t> -O</a:t>
            </a:r>
            <a:r>
              <a:rPr sz="1600" b="0" i="0">
                <a:solidFill>
                  <a:srgbClr val="FFD75E"/>
                </a:solidFill>
              </a:rPr>
              <a:t>2,</a:t>
            </a:r>
            <a:r>
              <a:rPr sz="1600" b="0" i="0">
                <a:solidFill>
                  <a:srgbClr val="CCD6E8"/>
                </a:solidFill>
              </a:rPr>
              <a:t> -O</a:t>
            </a:r>
            <a:r>
              <a:rPr sz="1600" b="0" i="0">
                <a:solidFill>
                  <a:srgbClr val="FFD75E"/>
                </a:solidFill>
              </a:rPr>
              <a:t>3</a:t>
            </a:r>
            <a:r>
              <a:rPr sz="1600" b="0" i="0">
                <a:solidFill>
                  <a:srgbClr val="CCD6E8"/>
                </a:solidFill>
              </a:rPr>
              <a:t>) recorded per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9067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56D3A0"/>
                </a:solidFill>
              </a:rPr>
              <a:t>6 Training Benchmarks — selection criteria: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11296"/>
            <a:ext cx="5074920" cy="228600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At least one random sequence beats -O</a:t>
            </a:r>
            <a:r>
              <a:rPr sz="1500" b="0" i="0">
                <a:solidFill>
                  <a:srgbClr val="FFD75E"/>
                </a:solidFill>
              </a:rPr>
              <a:t>3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High CV across sequences (rugged reward landscape)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Diverse computational profiles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1143000"/>
            <a:ext cx="6172200" cy="7315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52728"/>
            <a:ext cx="141732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252728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O3 (ns)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252728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Best (ns)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252728"/>
            <a:ext cx="1051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vs O3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1252728"/>
            <a:ext cx="1005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901952"/>
            <a:ext cx="6172200" cy="7315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011680"/>
            <a:ext cx="141732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interpreter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011680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37,918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27,591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011680"/>
            <a:ext cx="1051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0FF66"/>
                </a:solidFill>
              </a:rPr>
              <a:t>−27.2%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2011680"/>
            <a:ext cx="1005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CAA44"/>
                </a:solidFill>
              </a:rPr>
              <a:t>13.9%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0" y="2660904"/>
            <a:ext cx="61722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770632"/>
            <a:ext cx="141732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kmp_search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770632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886,408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770632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671,195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770632"/>
            <a:ext cx="1051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DFA6A"/>
                </a:solidFill>
              </a:rPr>
              <a:t>−24.3%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2770632"/>
            <a:ext cx="1005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9D206"/>
                </a:solidFill>
              </a:rPr>
              <a:t>42.7%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3419856"/>
            <a:ext cx="6172200" cy="7315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3529584"/>
            <a:ext cx="141732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polynomial_eval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529584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417,235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529584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364,235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529584"/>
            <a:ext cx="1051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1E97B"/>
                </a:solidFill>
              </a:rPr>
              <a:t>−12.7%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3529584"/>
            <a:ext cx="1005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46.0%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4178808"/>
            <a:ext cx="61722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4288536"/>
            <a:ext cx="141732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288536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46,509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288536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41,852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4288536"/>
            <a:ext cx="1051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DE57F"/>
                </a:solidFill>
              </a:rPr>
              <a:t>−10.0%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4288536"/>
            <a:ext cx="1005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EEC816"/>
                </a:solidFill>
              </a:rPr>
              <a:t>35.5%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4937759"/>
            <a:ext cx="6172200" cy="7315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5047488"/>
            <a:ext cx="141732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array_reduction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5047488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97,184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047488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92,619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047488"/>
            <a:ext cx="1051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66DD88"/>
                </a:solidFill>
              </a:rPr>
              <a:t> −4.7%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5047488"/>
            <a:ext cx="1005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0C913"/>
                </a:solidFill>
              </a:rPr>
              <a:t>36.6%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0" y="5696712"/>
            <a:ext cx="61722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5806440"/>
            <a:ext cx="141732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binary_tree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5806440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117,990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806440"/>
            <a:ext cx="1234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107,087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5806440"/>
            <a:ext cx="1051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51E381"/>
                </a:solidFill>
              </a:rPr>
              <a:t> −9.2%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5806440"/>
            <a:ext cx="1005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D3B03A"/>
                </a:solidFill>
              </a:rPr>
              <a:t>18.4%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59893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56D3A0"/>
                </a:solidFill>
              </a:rPr>
              <a:t>Green = speedup magnitude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989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FFD75E"/>
                </a:solidFill>
              </a:rPr>
              <a:t>Yellow = landscape ruggedness (CV)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IR Feature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303520" cy="320040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Policy observes a </a:t>
            </a:r>
            <a:r>
              <a:rPr sz="1500" b="0" i="0">
                <a:solidFill>
                  <a:srgbClr val="FFD75E"/>
                </a:solidFill>
              </a:rPr>
              <a:t>48</a:t>
            </a:r>
            <a:r>
              <a:rPr sz="1500" b="0" i="0">
                <a:solidFill>
                  <a:srgbClr val="CCD6E8"/>
                </a:solidFill>
              </a:rPr>
              <a:t>-dim IR feature vector fₜ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Split IR into C=</a:t>
            </a:r>
            <a:r>
              <a:rPr sz="1500" b="0" i="0">
                <a:solidFill>
                  <a:srgbClr val="FFD75E"/>
                </a:solidFill>
              </a:rPr>
              <a:t>4</a:t>
            </a:r>
            <a:r>
              <a:rPr sz="1500" b="0" i="0">
                <a:solidFill>
                  <a:srgbClr val="CCD6E8"/>
                </a:solidFill>
              </a:rPr>
              <a:t> equal positional chunks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Per chunk: opcode histogram (</a:t>
            </a:r>
            <a:r>
              <a:rPr sz="1500" b="0" i="0">
                <a:solidFill>
                  <a:srgbClr val="FFD75E"/>
                </a:solidFill>
              </a:rPr>
              <a:t>12</a:t>
            </a:r>
            <a:r>
              <a:rPr sz="1500" b="0" i="0">
                <a:solidFill>
                  <a:srgbClr val="CCD6E8"/>
                </a:solidFill>
              </a:rPr>
              <a:t> categories) + metadata rates (</a:t>
            </a:r>
            <a:r>
              <a:rPr sz="1500" b="0" i="0">
                <a:solidFill>
                  <a:srgbClr val="FFD75E"/>
                </a:solidFill>
              </a:rPr>
              <a:t>4</a:t>
            </a:r>
            <a:r>
              <a:rPr sz="1500" b="0" i="0">
                <a:solidFill>
                  <a:srgbClr val="CCD6E8"/>
                </a:solidFill>
              </a:rPr>
              <a:t> kinds)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categories: memory, int-arith, float-arith, bitwise, compare, cast,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call, control, phi/select, vector, block-boundary, other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metadata: tbaa, llvm.loop, alias.scope, noalias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FFD75E"/>
                </a:solidFill>
              </a:rPr>
              <a:t>3</a:t>
            </a:r>
            <a:r>
              <a:rPr sz="1500" b="0" i="0">
                <a:solidFill>
                  <a:srgbClr val="CCD6E8"/>
                </a:solidFill>
              </a:rPr>
              <a:t> adjacent-chunk deltas → </a:t>
            </a:r>
            <a:r>
              <a:rPr sz="1500" b="0" i="0">
                <a:solidFill>
                  <a:srgbClr val="FFD75E"/>
                </a:solidFill>
              </a:rPr>
              <a:t>3</a:t>
            </a:r>
            <a:r>
              <a:rPr sz="1500" b="0" i="0">
                <a:solidFill>
                  <a:srgbClr val="CCD6E8"/>
                </a:solidFill>
              </a:rPr>
              <a:t> × </a:t>
            </a:r>
            <a:r>
              <a:rPr sz="1500" b="0" i="0">
                <a:solidFill>
                  <a:srgbClr val="FFD75E"/>
                </a:solidFill>
              </a:rPr>
              <a:t>16</a:t>
            </a:r>
            <a:r>
              <a:rPr sz="1500" b="0" i="0">
                <a:solidFill>
                  <a:srgbClr val="CCD6E8"/>
                </a:solidFill>
              </a:rPr>
              <a:t> = </a:t>
            </a:r>
            <a:r>
              <a:rPr sz="1500" b="0" i="0">
                <a:solidFill>
                  <a:srgbClr val="FFD75E"/>
                </a:solidFill>
              </a:rPr>
              <a:t>48</a:t>
            </a:r>
            <a:r>
              <a:rPr sz="1500" b="0" i="0">
                <a:solidFill>
                  <a:srgbClr val="CCD6E8"/>
                </a:solidFill>
              </a:rPr>
              <a:t>-dim vector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Key properties: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Invariant to function size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Responds to loop-rotate, licm, sroa — invisible to global counts</a:t>
            </a:r>
          </a:p>
        </p:txBody>
      </p:sp>
      <p:pic>
        <p:nvPicPr>
          <p:cNvPr id="6" name="Picture 5" descr="features_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6126480" cy="2166241"/>
          </a:xfrm>
          <a:prstGeom prst="rect">
            <a:avLst/>
          </a:prstGeom>
        </p:spPr>
      </p:pic>
      <p:pic>
        <p:nvPicPr>
          <p:cNvPr id="7" name="Picture 6" descr="features_m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931920"/>
            <a:ext cx="6126480" cy="38093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Pass Menu &amp; EDA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394960" cy="201168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FFD75E"/>
                </a:solidFill>
              </a:rPr>
              <a:t>28</a:t>
            </a:r>
            <a:r>
              <a:rPr sz="1500" b="0" i="0">
                <a:solidFill>
                  <a:srgbClr val="CCD6E8"/>
                </a:solidFill>
              </a:rPr>
              <a:t>-pass primary menu + Stop token (</a:t>
            </a:r>
            <a:r>
              <a:rPr sz="1500" b="0" i="0">
                <a:solidFill>
                  <a:srgbClr val="FFD75E"/>
                </a:solidFill>
              </a:rPr>
              <a:t>29</a:t>
            </a:r>
            <a:r>
              <a:rPr sz="1500" b="0" i="0">
                <a:solidFill>
                  <a:srgbClr val="CCD6E8"/>
                </a:solidFill>
              </a:rPr>
              <a:t> total)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Inclusion criteria: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Appears in -O</a:t>
            </a:r>
            <a:r>
              <a:rPr sz="1500" b="0" i="0">
                <a:solidFill>
                  <a:srgbClr val="FFD75E"/>
                </a:solidFill>
              </a:rPr>
              <a:t>3</a:t>
            </a:r>
            <a:r>
              <a:rPr sz="1500" b="0" i="0">
                <a:solidFill>
                  <a:srgbClr val="CCD6E8"/>
                </a:solidFill>
              </a:rPr>
              <a:t> inner loop or is a prerequisite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Demonstrable impact on C compute code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Covers a distinct optimization category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LLVM </a:t>
            </a:r>
            <a:r>
              <a:rPr sz="1500" b="0" i="0">
                <a:solidFill>
                  <a:srgbClr val="FFD75E"/>
                </a:solidFill>
              </a:rPr>
              <a:t>20</a:t>
            </a:r>
            <a:r>
              <a:rPr sz="1500" b="0" i="0">
                <a:solidFill>
                  <a:srgbClr val="CCD6E8"/>
                </a:solidFill>
              </a:rPr>
              <a:t> nesting handled transparently: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inline → cgscc(inline)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licm → loop-mssa(licm)  ·  loop-rotate → loop(loop-rotate)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46120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56D3A0"/>
                </a:solidFill>
              </a:rPr>
              <a:t>Top passes by EDA analysis: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657600"/>
            <a:ext cx="5394960" cy="44805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37160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703320"/>
            <a:ext cx="16459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Top-Decile Enrich.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703320"/>
            <a:ext cx="182880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Geo-Mean Speedup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133087"/>
            <a:ext cx="5394960" cy="448056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78807"/>
            <a:ext cx="137160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78807"/>
            <a:ext cx="16459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D75E"/>
                </a:solidFill>
              </a:rPr>
              <a:t>2.35×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178807"/>
            <a:ext cx="182880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D75E"/>
                </a:solidFill>
              </a:rPr>
              <a:t>1.26×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608576"/>
            <a:ext cx="5394960" cy="4480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54296"/>
            <a:ext cx="137160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simplifycfg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654296"/>
            <a:ext cx="16459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D75E"/>
                </a:solidFill>
              </a:rPr>
              <a:t>1.98×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654296"/>
            <a:ext cx="182880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D75E"/>
                </a:solidFill>
              </a:rPr>
              <a:t>1.12×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084064"/>
            <a:ext cx="5394960" cy="448056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29784"/>
            <a:ext cx="137160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sroa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129784"/>
            <a:ext cx="16459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D75E"/>
                </a:solidFill>
              </a:rPr>
              <a:t>1.87×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129784"/>
            <a:ext cx="182880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D75E"/>
                </a:solidFill>
              </a:rPr>
              <a:t>1.09×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559552"/>
            <a:ext cx="5394960" cy="4480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605272"/>
            <a:ext cx="137160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mem2reg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605272"/>
            <a:ext cx="16459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D75E"/>
                </a:solidFill>
              </a:rPr>
              <a:t>1.76×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605272"/>
            <a:ext cx="182880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D75E"/>
                </a:solidFill>
              </a:rPr>
              <a:t>1.08×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143000"/>
            <a:ext cx="5943600" cy="521208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inline is the top pass-enabler: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Enrichment </a:t>
            </a:r>
            <a:r>
              <a:rPr sz="1500" b="0" i="0">
                <a:solidFill>
                  <a:srgbClr val="FFD75E"/>
                </a:solidFill>
              </a:rPr>
              <a:t>2.35×</a:t>
            </a:r>
            <a:r>
              <a:rPr sz="1500" b="0" i="0">
                <a:solidFill>
                  <a:srgbClr val="CCD6E8"/>
                </a:solidFill>
              </a:rPr>
              <a:t> = in top-decile sequences at </a:t>
            </a:r>
            <a:r>
              <a:rPr sz="1500" b="0" i="0">
                <a:solidFill>
                  <a:srgbClr val="FFD75E"/>
                </a:solidFill>
              </a:rPr>
              <a:t>2.35×</a:t>
            </a:r>
            <a:r>
              <a:rPr sz="1500" b="0" i="0">
                <a:solidFill>
                  <a:srgbClr val="CCD6E8"/>
                </a:solidFill>
              </a:rPr>
              <a:t> baseline rate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Exposes callee bodies to const-prop, DCE, loop transforms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simplifycfg + sroa + mem</a:t>
            </a:r>
            <a:r>
              <a:rPr sz="1500" b="0" i="0">
                <a:solidFill>
                  <a:srgbClr val="FFD75E"/>
                </a:solidFill>
              </a:rPr>
              <a:t>2</a:t>
            </a:r>
            <a:r>
              <a:rPr sz="1500" b="0" i="0">
                <a:solidFill>
                  <a:srgbClr val="CCD6E8"/>
                </a:solidFill>
              </a:rPr>
              <a:t>reg unlock downstream analyses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SSA promotion (mem</a:t>
            </a:r>
            <a:r>
              <a:rPr sz="1500" b="0" i="0">
                <a:solidFill>
                  <a:srgbClr val="FFD75E"/>
                </a:solidFill>
              </a:rPr>
              <a:t>2</a:t>
            </a:r>
            <a:r>
              <a:rPr sz="1500" b="0" i="0">
                <a:solidFill>
                  <a:srgbClr val="CCD6E8"/>
                </a:solidFill>
              </a:rPr>
              <a:t>reg) required before most scalar optimizations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Sequence length distribution ~uniform across </a:t>
            </a:r>
            <a:r>
              <a:rPr sz="1500" b="0" i="0">
                <a:solidFill>
                  <a:srgbClr val="FFD75E"/>
                </a:solidFill>
              </a:rPr>
              <a:t>1</a:t>
            </a:r>
            <a:r>
              <a:rPr sz="1500" b="0" i="0">
                <a:solidFill>
                  <a:srgbClr val="CCD6E8"/>
                </a:solidFill>
              </a:rPr>
              <a:t>–</a:t>
            </a:r>
            <a:r>
              <a:rPr sz="1500" b="0" i="0">
                <a:solidFill>
                  <a:srgbClr val="FFD75E"/>
                </a:solidFill>
              </a:rPr>
              <a:t>20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Best-found median length: </a:t>
            </a:r>
            <a:r>
              <a:rPr sz="1500" b="0" i="0">
                <a:solidFill>
                  <a:srgbClr val="FFD75E"/>
                </a:solidFill>
              </a:rPr>
              <a:t>17</a:t>
            </a:r>
            <a:r>
              <a:rPr sz="1500" b="0" i="0">
                <a:solidFill>
                  <a:srgbClr val="CCD6E8"/>
                </a:solidFill>
              </a:rPr>
              <a:t>–</a:t>
            </a:r>
            <a:r>
              <a:rPr sz="1500" b="0" i="0">
                <a:solidFill>
                  <a:srgbClr val="FFD75E"/>
                </a:solidFill>
              </a:rPr>
              <a:t>18</a:t>
            </a:r>
            <a:r>
              <a:rPr sz="1500" b="0" i="0">
                <a:solidFill>
                  <a:srgbClr val="CCD6E8"/>
                </a:solidFill>
              </a:rPr>
              <a:t> (no cap spike → K=</a:t>
            </a:r>
            <a:r>
              <a:rPr sz="1500" b="0" i="0">
                <a:solidFill>
                  <a:srgbClr val="FFD75E"/>
                </a:solidFill>
              </a:rPr>
              <a:t>20</a:t>
            </a:r>
            <a:r>
              <a:rPr sz="1500" b="0" i="0">
                <a:solidFill>
                  <a:srgbClr val="CCD6E8"/>
                </a:solidFill>
              </a:rPr>
              <a:t> sufficient)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Bench-cache lookup rate grows during training: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Policy re-generates previously benchmarked sequences → instant reward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Policy Architecture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CCD6E8"/>
                </a:solidFill>
              </a:rPr>
              <a:t>Auto-TFX  ·  Auto-GRU  ·  PPO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Policy Architecture Diagrams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42062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133856"/>
            <a:ext cx="550468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Auto-TFX  (Causal Transformer)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609344"/>
            <a:ext cx="978408" cy="8229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655064"/>
            <a:ext cx="868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W·fₜ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075688"/>
            <a:ext cx="868680" cy="3456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IR proj
48→128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5024" y="1609344"/>
            <a:ext cx="978408" cy="822960"/>
          </a:xfrm>
          <a:prstGeom prst="rect">
            <a:avLst/>
          </a:prstGeom>
          <a:solidFill>
            <a:srgbClr val="3A8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655064"/>
            <a:ext cx="868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E[a₀]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075688"/>
            <a:ext cx="868680" cy="3456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action
embed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39" y="1609344"/>
            <a:ext cx="978408" cy="822960"/>
          </a:xfrm>
          <a:prstGeom prst="rect">
            <a:avLst/>
          </a:prstGeom>
          <a:solidFill>
            <a:srgbClr val="2A7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2303" y="1655064"/>
            <a:ext cx="868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E[a₁]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2303" y="2075688"/>
            <a:ext cx="868680" cy="3456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action
embed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9856" y="1609344"/>
            <a:ext cx="978408" cy="8229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664208"/>
            <a:ext cx="868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2272" y="1609344"/>
            <a:ext cx="978408" cy="822960"/>
          </a:xfrm>
          <a:prstGeom prst="rect">
            <a:avLst/>
          </a:prstGeom>
          <a:solidFill>
            <a:srgbClr val="1A6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1655064"/>
            <a:ext cx="868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E[aₜ₋₁]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075688"/>
            <a:ext cx="868680" cy="3456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action
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487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</a:rPr>
              <a:t>↓  full cross-step attention  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2779776"/>
            <a:ext cx="5376672" cy="73152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825496"/>
            <a:ext cx="52669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Transformer Encoder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200400"/>
            <a:ext cx="5266944" cy="3072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2 layers · 4 heads · d=128 · FF 256 · dropout 0.1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566160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</a:rPr>
              <a:t>↓  token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3566160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</a:rPr>
              <a:t>↓  token 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3840480"/>
            <a:ext cx="2450592" cy="868680"/>
          </a:xfrm>
          <a:prstGeom prst="rect">
            <a:avLst/>
          </a:prstGeom>
          <a:solidFill>
            <a:srgbClr val="56D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3886200"/>
            <a:ext cx="2340864" cy="4343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Value 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4329683"/>
            <a:ext cx="2340864" cy="36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0F172A"/>
                </a:solidFill>
              </a:rPr>
              <a:t>reads token 0
→  V(sₜ)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840480"/>
            <a:ext cx="2450592" cy="868680"/>
          </a:xfrm>
          <a:prstGeom prst="rect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886200"/>
            <a:ext cx="2340864" cy="4343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Policy 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5536" y="4329683"/>
            <a:ext cx="2340864" cy="36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0F172A"/>
                </a:solidFill>
              </a:rPr>
              <a:t>reads token t
→  logits (29)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4773168"/>
            <a:ext cx="5376672" cy="676656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800600"/>
            <a:ext cx="5230368" cy="621792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D6E8"/>
                </a:solidFill>
              </a:rPr>
              <a:t>▸ No causal mask — decode 1 step at a time; full sequence always visible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D6E8"/>
                </a:solidFill>
              </a:rPr>
              <a:t>▸ Batched replay: K forward passes (one per step position) vs N×K naïve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7648" y="1097280"/>
            <a:ext cx="5577840" cy="420624"/>
          </a:xfrm>
          <a:prstGeom prst="rect">
            <a:avLst/>
          </a:prstGeom>
          <a:solidFill>
            <a:srgbClr val="56D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1133856"/>
            <a:ext cx="550468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Auto-GRU  (Recurrent)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1591056"/>
            <a:ext cx="5394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4A9EFF"/>
                </a:solidFill>
              </a:rPr>
              <a:t>Step 0 — seed hidden state from initial IR: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64224" y="1847088"/>
            <a:ext cx="1115568" cy="76809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1892807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f₀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2286000"/>
            <a:ext cx="1005840" cy="32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F172A"/>
                </a:solidFill>
              </a:rPr>
              <a:t>IR feat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34656" y="2176272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1847088"/>
            <a:ext cx="1417320" cy="768096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18704" y="1901952"/>
            <a:ext cx="130759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Linear
project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36024" y="2176272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65208" y="1847088"/>
            <a:ext cx="1993392" cy="768096"/>
          </a:xfrm>
          <a:prstGeom prst="rect">
            <a:avLst/>
          </a:prstGeom>
          <a:solidFill>
            <a:srgbClr val="56D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20072" y="1892807"/>
            <a:ext cx="1883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h₀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20072" y="2286000"/>
            <a:ext cx="1883664" cy="32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0F172A"/>
                </a:solidFill>
              </a:rPr>
              <a:t>initial hidden state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2743200"/>
            <a:ext cx="5394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4A9EFF"/>
                </a:solidFill>
              </a:rPr>
              <a:t>Step t — recurrent update: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64224" y="2999232"/>
            <a:ext cx="1115568" cy="65836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19088" y="3044951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fₜ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3383279"/>
            <a:ext cx="1005840" cy="276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F172A"/>
                </a:solidFill>
              </a:rPr>
              <a:t>IR feat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64224" y="3712463"/>
            <a:ext cx="1115568" cy="658368"/>
          </a:xfrm>
          <a:prstGeom prst="rect">
            <a:avLst/>
          </a:prstGeom>
          <a:solidFill>
            <a:srgbClr val="3A8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3758183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aₜ₋₁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4096511"/>
            <a:ext cx="1005840" cy="276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F172A"/>
                </a:solidFill>
              </a:rPr>
              <a:t>action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2999232"/>
            <a:ext cx="1417320" cy="13716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72984" y="3054096"/>
            <a:ext cx="1307592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GRU
Cell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16368" y="3246120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16368" y="3858768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90304" y="3657600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19488" y="3346704"/>
            <a:ext cx="1956816" cy="731520"/>
          </a:xfrm>
          <a:prstGeom prst="rect">
            <a:avLst/>
          </a:prstGeom>
          <a:solidFill>
            <a:srgbClr val="56D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74352" y="3392424"/>
            <a:ext cx="1847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hₜ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74352" y="3767328"/>
            <a:ext cx="1847088" cy="3072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0F172A"/>
                </a:solidFill>
              </a:rPr>
              <a:t>hidden state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18120" y="4425696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FFA040"/>
                </a:solidFill>
              </a:rPr>
              <a:t>↑ hₜ₋₁  (recurrent)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64224" y="4645152"/>
            <a:ext cx="5394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→  output heads: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64224" y="4901184"/>
            <a:ext cx="2450592" cy="841248"/>
          </a:xfrm>
          <a:prstGeom prst="rect">
            <a:avLst/>
          </a:prstGeom>
          <a:solidFill>
            <a:srgbClr val="56D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9088" y="4946904"/>
            <a:ext cx="234086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Value Head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19088" y="5376672"/>
            <a:ext cx="2340864" cy="353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0F172A"/>
                </a:solidFill>
              </a:rPr>
              <a:t>→  V(sₜ)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61120" y="4901184"/>
            <a:ext cx="2450592" cy="841248"/>
          </a:xfrm>
          <a:prstGeom prst="rect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15984" y="4946904"/>
            <a:ext cx="234086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Policy Head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15984" y="5376672"/>
            <a:ext cx="2340864" cy="353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0F172A"/>
                </a:solidFill>
              </a:rPr>
              <a:t>→  logits (29)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64224" y="5833872"/>
            <a:ext cx="5376672" cy="438912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37376" y="5852160"/>
            <a:ext cx="5230368" cy="402336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D6E8"/>
                </a:solidFill>
              </a:rPr>
              <a:t>▸ Recency bias: recent IR state has more influence — free inductive prior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D6E8"/>
                </a:solidFill>
              </a:rPr>
              <a:t>▸ Compresses full episode history into a fixed-width hidden vector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345936"/>
            <a:ext cx="116403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CCD6E8"/>
                </a:solidFill>
              </a:rPr>
              <a:t>Both architectures re-encode current IR features fₜ at every step — neither operates on a stale snapshot.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Concrete Pass-Selection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6217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21440" cy="64008"/>
          </a:xfrm>
          <a:prstGeom prst="rect">
            <a:avLst/>
          </a:prstGeom>
          <a:solidFill>
            <a:srgbClr val="FFD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113385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D75E"/>
                </a:solidFill>
              </a:rPr>
              <a:t>Example: interpreter  ·  -O3 baseline = 37,918 ns  ·  Greedy policy result: ~27,138 ns  →  +27.7% speedup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83664"/>
            <a:ext cx="1783080" cy="34747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929384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Step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58568"/>
            <a:ext cx="1783080" cy="694944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2304288"/>
            <a:ext cx="16916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</a:rPr>
              <a:t>fₜ: mem↑
call↑
ctrl↑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59" y="2999232"/>
            <a:ext cx="1234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↓ picks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55264"/>
            <a:ext cx="1783080" cy="47548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5" y="3300984"/>
            <a:ext cx="17099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inline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67328"/>
            <a:ext cx="1783080" cy="6217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5" y="3822191"/>
            <a:ext cx="1709928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remove call
overhead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2263" y="3401568"/>
            <a:ext cx="192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2848" y="1883664"/>
            <a:ext cx="1783080" cy="347472"/>
          </a:xfrm>
          <a:prstGeom prst="rect">
            <a:avLst/>
          </a:prstGeom>
          <a:solidFill>
            <a:srgbClr val="3A8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58568" y="1929384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Step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12848" y="2258568"/>
            <a:ext cx="1783080" cy="694944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8568" y="2304288"/>
            <a:ext cx="16916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</a:rPr>
              <a:t>fₜ: mem↑
cfg↑
int↓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2999232"/>
            <a:ext cx="1234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↓ picks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12848" y="3255264"/>
            <a:ext cx="1783080" cy="475488"/>
          </a:xfrm>
          <a:prstGeom prst="rect">
            <a:avLst/>
          </a:prstGeom>
          <a:solidFill>
            <a:srgbClr val="3A8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9424" y="3300984"/>
            <a:ext cx="17099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simplifycfg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12848" y="3767328"/>
            <a:ext cx="1783080" cy="6217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9424" y="3822191"/>
            <a:ext cx="1709928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clean dead
blocks/branches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3401568"/>
            <a:ext cx="192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5655" y="1883664"/>
            <a:ext cx="1783080" cy="347472"/>
          </a:xfrm>
          <a:prstGeom prst="rect">
            <a:avLst/>
          </a:prstGeom>
          <a:solidFill>
            <a:srgbClr val="2AA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51375" y="1929384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Step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05655" y="2258568"/>
            <a:ext cx="1783080" cy="694944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51375" y="2304288"/>
            <a:ext cx="16916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</a:rPr>
              <a:t>fₜ: mem↓↓
int↑
SSA↑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9975" y="2999232"/>
            <a:ext cx="1234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↓ picks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05655" y="3255264"/>
            <a:ext cx="1783080" cy="475488"/>
          </a:xfrm>
          <a:prstGeom prst="rect">
            <a:avLst/>
          </a:prstGeom>
          <a:solidFill>
            <a:srgbClr val="2AA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2231" y="3300984"/>
            <a:ext cx="17099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sroa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05655" y="3767328"/>
            <a:ext cx="1783080" cy="6217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2231" y="3822191"/>
            <a:ext cx="1709928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stack→regs
(mem↓ heavy)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79" y="3401568"/>
            <a:ext cx="192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98463" y="1883664"/>
            <a:ext cx="1783080" cy="347472"/>
          </a:xfrm>
          <a:prstGeom prst="rect">
            <a:avLst/>
          </a:prstGeom>
          <a:solidFill>
            <a:srgbClr val="5A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44183" y="1929384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Step 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98463" y="2258568"/>
            <a:ext cx="1783080" cy="694944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44183" y="2304288"/>
            <a:ext cx="16916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</a:rPr>
              <a:t>fₜ: mem≈0
consts
visible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3" y="2999232"/>
            <a:ext cx="1234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↓ picks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98463" y="3255264"/>
            <a:ext cx="1783080" cy="475488"/>
          </a:xfrm>
          <a:prstGeom prst="rect">
            <a:avLst/>
          </a:prstGeom>
          <a:solidFill>
            <a:srgbClr val="5A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39" y="3300984"/>
            <a:ext cx="17099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mem2reg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98463" y="3767328"/>
            <a:ext cx="1783080" cy="6217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39" y="3822191"/>
            <a:ext cx="1709928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alloca→SSA
promotes vals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90687" y="3401568"/>
            <a:ext cx="192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91271" y="1883664"/>
            <a:ext cx="1783080" cy="347472"/>
          </a:xfrm>
          <a:prstGeom prst="rect">
            <a:avLst/>
          </a:prstGeom>
          <a:solidFill>
            <a:srgbClr val="9A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36992" y="1929384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Step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91271" y="2258568"/>
            <a:ext cx="1783080" cy="694944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36992" y="2304288"/>
            <a:ext cx="16916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</a:rPr>
              <a:t>fₜ: stable
Δ small
/step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65592" y="2999232"/>
            <a:ext cx="1234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↓ picks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91271" y="3255264"/>
            <a:ext cx="1783080" cy="475488"/>
          </a:xfrm>
          <a:prstGeom prst="rect">
            <a:avLst/>
          </a:prstGeom>
          <a:solidFill>
            <a:srgbClr val="9A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27847" y="3300984"/>
            <a:ext cx="17099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instcombine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91271" y="3767328"/>
            <a:ext cx="1783080" cy="6217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27847" y="3822191"/>
            <a:ext cx="1709928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fold/simplify
patterns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83495" y="3401568"/>
            <a:ext cx="192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84080" y="1883664"/>
            <a:ext cx="1783080" cy="347472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29800" y="1929384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5–19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84080" y="2258568"/>
            <a:ext cx="1783080" cy="694944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29800" y="2304288"/>
            <a:ext cx="16916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</a:rPr>
              <a:t>fₜ: minor
Δ /step
(safe)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2999232"/>
            <a:ext cx="1234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↓ picks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84080" y="3255264"/>
            <a:ext cx="1783080" cy="475488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20655" y="3300984"/>
            <a:ext cx="17099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instcombine
×15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84080" y="3767328"/>
            <a:ext cx="1783080" cy="6217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20655" y="3822191"/>
            <a:ext cx="1709928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safe: rarely
hurts, occ. wins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507992"/>
            <a:ext cx="11521440" cy="493776"/>
          </a:xfrm>
          <a:prstGeom prst="rect">
            <a:avLst/>
          </a:prstGeom>
          <a:solidFill>
            <a:srgbClr val="0A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" y="4507992"/>
            <a:ext cx="11521440" cy="54864"/>
          </a:xfrm>
          <a:prstGeom prst="rect">
            <a:avLst/>
          </a:prstGeom>
          <a:solidFill>
            <a:srgbClr val="56D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4590288"/>
            <a:ext cx="11338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56D3A0"/>
                </a:solidFill>
              </a:rPr>
              <a:t>Compile → benchmark  ·  measured = 27,138 ns  ·  r = (37,918 − 27,138) / 37,918 = +27.7%  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120640"/>
            <a:ext cx="11521440" cy="969264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5175504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D75E"/>
                </a:solidFill>
              </a:rPr>
              <a:t>Why repeat instcombine?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5504688"/>
            <a:ext cx="5349240" cy="54864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D6E8"/>
                </a:solidFill>
              </a:rPr>
              <a:t>▸ </a:t>
            </a:r>
            <a:r>
              <a:rPr sz="1100" b="0" i="0">
                <a:solidFill>
                  <a:srgbClr val="CCD6E8"/>
                </a:solidFill>
              </a:rPr>
              <a:t>Q(Stop)=current speedup; Q(pass)=E[future] — uncertain, possibly higher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D6E8"/>
                </a:solidFill>
              </a:rPr>
              <a:t>▸ </a:t>
            </a:r>
            <a:r>
              <a:rPr sz="1100" b="0" i="0">
                <a:solidFill>
                  <a:srgbClr val="CCD6E8"/>
                </a:solidFill>
              </a:rPr>
              <a:t>Penalty p=</a:t>
            </a:r>
            <a:r>
              <a:rPr sz="1100" b="0" i="0">
                <a:solidFill>
                  <a:srgbClr val="FFD75E"/>
                </a:solidFill>
              </a:rPr>
              <a:t>0.025</a:t>
            </a:r>
            <a:r>
              <a:rPr sz="1100" b="0" i="0">
                <a:solidFill>
                  <a:srgbClr val="CCD6E8"/>
                </a:solidFill>
              </a:rPr>
              <a:t> per no-op is tiny vs ~</a:t>
            </a:r>
            <a:r>
              <a:rPr sz="1100" b="0" i="0">
                <a:solidFill>
                  <a:srgbClr val="FFD75E"/>
                </a:solidFill>
              </a:rPr>
              <a:t>28%</a:t>
            </a:r>
            <a:r>
              <a:rPr sz="1100" b="0" i="0">
                <a:solidFill>
                  <a:srgbClr val="CCD6E8"/>
                </a:solidFill>
              </a:rPr>
              <a:t> gain — rational to continue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35040" y="5175504"/>
            <a:ext cx="5669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56D3A0"/>
                </a:solidFill>
              </a:rPr>
              <a:t>Why is inline so dominant?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5504688"/>
            <a:ext cx="5623560" cy="54864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D6E8"/>
                </a:solidFill>
              </a:rPr>
              <a:t>▸ interpreter has a tight bytecode dispatch loop — call overhead dominates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D6E8"/>
                </a:solidFill>
              </a:rPr>
              <a:t>▸ After inline: callee body visible → const-prop + DCE fire hard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PPO Training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166360" cy="265176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On-policy collect → update loop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Collect </a:t>
            </a:r>
            <a:r>
              <a:rPr sz="1500" b="0" i="0">
                <a:solidFill>
                  <a:srgbClr val="FFD75E"/>
                </a:solidFill>
              </a:rPr>
              <a:t>256</a:t>
            </a:r>
            <a:r>
              <a:rPr sz="1500" b="0" i="0">
                <a:solidFill>
                  <a:srgbClr val="CCD6E8"/>
                </a:solidFill>
              </a:rPr>
              <a:t> episodes/epoch (Rayon parallel)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FFD75E"/>
                </a:solidFill>
              </a:rPr>
              <a:t>4</a:t>
            </a:r>
            <a:r>
              <a:rPr sz="1500" b="0" i="0">
                <a:solidFill>
                  <a:srgbClr val="CCD6E8"/>
                </a:solidFill>
              </a:rPr>
              <a:t> PPO inner epochs on mini-batches of </a:t>
            </a:r>
            <a:r>
              <a:rPr sz="1500" b="0" i="0">
                <a:solidFill>
                  <a:srgbClr val="FFD75E"/>
                </a:solidFill>
              </a:rPr>
              <a:t>128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KL early-stop ≤ </a:t>
            </a:r>
            <a:r>
              <a:rPr sz="1500" b="0" i="0">
                <a:solidFill>
                  <a:srgbClr val="FFD75E"/>
                </a:solidFill>
              </a:rPr>
              <a:t>0.05</a:t>
            </a:r>
            <a:r>
              <a:rPr sz="1500" b="0" i="0">
                <a:solidFill>
                  <a:srgbClr val="CCD6E8"/>
                </a:solidFill>
              </a:rPr>
              <a:t> aborts inner loop if update too large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AdamW · cosine LR </a:t>
            </a:r>
            <a:r>
              <a:rPr sz="1500" b="0" i="0">
                <a:solidFill>
                  <a:srgbClr val="FFD75E"/>
                </a:solidFill>
              </a:rPr>
              <a:t>1</a:t>
            </a:r>
            <a:r>
              <a:rPr sz="1500" b="0" i="0">
                <a:solidFill>
                  <a:srgbClr val="CCD6E8"/>
                </a:solidFill>
              </a:rPr>
              <a:t>e</a:t>
            </a:r>
            <a:r>
              <a:rPr sz="1500" b="0" i="0">
                <a:solidFill>
                  <a:srgbClr val="FFD75E"/>
                </a:solidFill>
              </a:rPr>
              <a:t>-3</a:t>
            </a:r>
            <a:r>
              <a:rPr sz="1500" b="0" i="0">
                <a:solidFill>
                  <a:srgbClr val="CCD6E8"/>
                </a:solidFill>
              </a:rPr>
              <a:t> → ~</a:t>
            </a:r>
            <a:r>
              <a:rPr sz="1500" b="0" i="0">
                <a:solidFill>
                  <a:srgbClr val="FFD75E"/>
                </a:solidFill>
              </a:rPr>
              <a:t>0</a:t>
            </a:r>
            <a:r>
              <a:rPr sz="1500" b="0" i="0">
                <a:solidFill>
                  <a:srgbClr val="CCD6E8"/>
                </a:solidFill>
              </a:rPr>
              <a:t> over </a:t>
            </a:r>
            <a:r>
              <a:rPr sz="1500" b="0" i="0">
                <a:solidFill>
                  <a:srgbClr val="FFD75E"/>
                </a:solidFill>
              </a:rPr>
              <a:t>100</a:t>
            </a:r>
            <a:r>
              <a:rPr sz="1500" b="0" i="0">
                <a:solidFill>
                  <a:srgbClr val="CCD6E8"/>
                </a:solidFill>
              </a:rPr>
              <a:t> epochs · </a:t>
            </a:r>
            <a:r>
              <a:rPr sz="1500" b="0" i="0">
                <a:solidFill>
                  <a:srgbClr val="FFD75E"/>
                </a:solidFill>
              </a:rPr>
              <a:t>100</a:t>
            </a:r>
            <a:r>
              <a:rPr sz="1500" b="0" i="0">
                <a:solidFill>
                  <a:srgbClr val="CCD6E8"/>
                </a:solidFill>
              </a:rPr>
              <a:t> epochs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913632"/>
            <a:ext cx="5166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Hyperparameters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315968"/>
            <a:ext cx="1691640" cy="42976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436168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d_model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4361688"/>
            <a:ext cx="685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D75E"/>
                </a:solidFill>
              </a:rPr>
              <a:t>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0552" y="4315968"/>
            <a:ext cx="1691640" cy="42976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436168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361688"/>
            <a:ext cx="685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D75E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9624" y="4315968"/>
            <a:ext cx="1691640" cy="42976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2" y="436168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Heads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4361688"/>
            <a:ext cx="685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D75E"/>
                </a:solidFill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773168"/>
            <a:ext cx="1691640" cy="4297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81888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FF dim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818888"/>
            <a:ext cx="685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D75E"/>
                </a:solidFill>
              </a:rPr>
              <a:t>256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0552" y="4773168"/>
            <a:ext cx="1691640" cy="4297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481888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Dropout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818888"/>
            <a:ext cx="685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D75E"/>
                </a:solidFill>
              </a:rPr>
              <a:t>0.1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9624" y="4773168"/>
            <a:ext cx="1691640" cy="4297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481888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Horizon 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4818888"/>
            <a:ext cx="685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D75E"/>
                </a:solidFill>
              </a:rPr>
              <a:t>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230368"/>
            <a:ext cx="1691640" cy="42976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527608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5276088"/>
            <a:ext cx="685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D75E"/>
                </a:solidFill>
              </a:rPr>
              <a:t>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30552" y="5230368"/>
            <a:ext cx="1691640" cy="42976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527608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Ep/epoch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276088"/>
            <a:ext cx="685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D75E"/>
                </a:solidFill>
              </a:rPr>
              <a:t>256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9624" y="5230368"/>
            <a:ext cx="1691640" cy="42976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13632" y="527608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Mini-batch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5276088"/>
            <a:ext cx="685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D75E"/>
                </a:solidFill>
              </a:rPr>
              <a:t>128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1115568"/>
            <a:ext cx="6080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  =  −E[ L_clip ]  +  c_v · E[ L_value ]  −  c_e · E[ L_entropy 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1481328"/>
            <a:ext cx="6080760" cy="162763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06440" y="1481328"/>
            <a:ext cx="73152" cy="16276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1536192"/>
            <a:ext cx="58704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</a:rPr>
              <a:t>CLIP Term  — policy gradient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847088"/>
            <a:ext cx="5870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L_clip = min( ρₜ · Âₜ ,  clip(ρₜ, 1−ε, 1+ε) · Âₜ 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1888" y="22128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4A9EFF"/>
                </a:solidFill>
              </a:rPr>
              <a:t>ρₜ = π_θ(aₜ|sₜ) / π_old(aₜ|sₜ)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2212848"/>
            <a:ext cx="44074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probability ratio new policy over old collection 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2523744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4A9EFF"/>
                </a:solidFill>
              </a:rPr>
              <a:t>Âₜ = Rₜ − V_θ(sₜ)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2523744"/>
            <a:ext cx="44074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advantage: return minus value baseline, batch-normalised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283464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4A9EFF"/>
                </a:solidFill>
              </a:rPr>
              <a:t>ε = 0.2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2834640"/>
            <a:ext cx="44074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clip threshold — hard limit on policy drift per gradient step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3154680"/>
            <a:ext cx="6080760" cy="162763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06440" y="3154680"/>
            <a:ext cx="73152" cy="1627632"/>
          </a:xfrm>
          <a:prstGeom prst="rect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0" y="3209544"/>
            <a:ext cx="58704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A040"/>
                </a:solidFill>
              </a:rPr>
              <a:t>Value Loss  —  c_v = 0.5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520440"/>
            <a:ext cx="5870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L_value = ( V_θ(sₜ) − Rₜ )²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388620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A040"/>
                </a:solidFill>
              </a:rPr>
              <a:t>V_θ(sₜ)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3886200"/>
            <a:ext cx="44074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value head prediction (token 0 in TFX, hidden state hₜ in GRU)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61888" y="419709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A040"/>
                </a:solidFill>
              </a:rPr>
              <a:t>Rₜ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197096"/>
            <a:ext cx="44074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per-step return (episode or instruction-weighted formulation)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61888" y="4507992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A040"/>
                </a:solidFill>
              </a:rPr>
              <a:t>EV →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4507992"/>
            <a:ext cx="44074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explained variance convergence confirms tight, calibrated baseline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06440" y="4828032"/>
            <a:ext cx="6080760" cy="162763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06440" y="4828032"/>
            <a:ext cx="73152" cy="1627632"/>
          </a:xfrm>
          <a:prstGeom prst="rect">
            <a:avLst/>
          </a:prstGeom>
          <a:solidFill>
            <a:srgbClr val="56D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4882896"/>
            <a:ext cx="58704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56D3A0"/>
                </a:solidFill>
              </a:rPr>
              <a:t>Entropy Bonus  —  c_e = 0.03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5193792"/>
            <a:ext cx="5870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75E"/>
                </a:solidFill>
              </a:rPr>
              <a:t>L_entropy = H( π_θ(·|sₜ) )   [Shannon entropy]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61888" y="5559552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56D3A0"/>
                </a:solidFill>
              </a:rPr>
              <a:t>H(π)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5559552"/>
            <a:ext cx="44074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spread over all 29 actions — prevents premature convergence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61888" y="58704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56D3A0"/>
                </a:solidFill>
              </a:rPr>
              <a:t>c_e = 0.03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6640" y="5870448"/>
            <a:ext cx="44074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small enough not to dominate; large enough to prevent collapse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61888" y="6181344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56D3A0"/>
                </a:solidFill>
              </a:rPr>
              <a:t>KL ≤ 0.05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6181344"/>
            <a:ext cx="44074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per-mini-batch early-stop guard as additional safety net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Return Formulations  &amp;  Credit Assignment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5394960" cy="26517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539496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</a:rPr>
              <a:t>Episode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Rₜ = r  ∀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5212080" cy="137160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Terminal speedup assigned uniformly to all steps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Unbiased maximum-likelihood estimate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No assumptions about which steps were responsible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5486400" cy="26517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solidFill>
            <a:srgbClr val="56D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430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</a:rPr>
              <a:t>Instruction-Weighted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Rₜ = r·|ΔIₜ|/Σ|ΔIₛ| + </a:t>
            </a:r>
            <a:r>
              <a:rPr sz="1300" b="0" i="0">
                <a:solidFill>
                  <a:srgbClr val="FFD75E"/>
                </a:solidFill>
              </a:rPr>
              <a:t>0.05</a:t>
            </a:r>
            <a:r>
              <a:rPr sz="1300" b="0" i="0">
                <a:solidFill>
                  <a:srgbClr val="FFFFFF"/>
                </a:solidFill>
              </a:rPr>
              <a:t>·sign(−ΔIₜ) − </a:t>
            </a:r>
            <a:r>
              <a:rPr sz="1300" b="0" i="0">
                <a:solidFill>
                  <a:srgbClr val="FFD75E"/>
                </a:solidFill>
              </a:rPr>
              <a:t>0.025</a:t>
            </a:r>
            <a:r>
              <a:rPr sz="1300" b="0" i="0">
                <a:solidFill>
                  <a:srgbClr val="FFFFFF"/>
                </a:solidFill>
              </a:rPr>
              <a:t>·</a:t>
            </a:r>
            <a:r>
              <a:rPr sz="1300" b="0" i="0">
                <a:solidFill>
                  <a:srgbClr val="FFD75E"/>
                </a:solidFill>
              </a:rPr>
              <a:t>𝟙</a:t>
            </a:r>
            <a:r>
              <a:rPr sz="1300" b="0" i="0">
                <a:solidFill>
                  <a:srgbClr val="FFFFFF"/>
                </a:solidFill>
              </a:rPr>
              <a:t>[noopₜ]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5303520" cy="128016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Redistributes credit proportional to instruction reduction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No-op penalty </a:t>
            </a:r>
            <a:r>
              <a:rPr sz="1400" b="0" i="0">
                <a:solidFill>
                  <a:srgbClr val="FFD75E"/>
                </a:solidFill>
              </a:rPr>
              <a:t>0.025</a:t>
            </a:r>
            <a:r>
              <a:rPr sz="1400" b="0" i="0">
                <a:solidFill>
                  <a:srgbClr val="CCD6E8"/>
                </a:solidFill>
              </a:rPr>
              <a:t>; direction bonus </a:t>
            </a:r>
            <a:r>
              <a:rPr sz="1400" b="0" i="0">
                <a:solidFill>
                  <a:srgbClr val="FFD75E"/>
                </a:solidFill>
              </a:rPr>
              <a:t>0.05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Sum of first term = r (total reward conserved)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11338560" cy="1965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886200"/>
            <a:ext cx="11338560" cy="384048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3192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CCD6E8"/>
                </a:solidFill>
              </a:rPr>
              <a:t>IR-Step Return  (Ablation)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11155680" cy="128016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Per-step normalised instruction-count delta as reward — bypasses benchmarking entirely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Dense, low-noise signal: verifies model architecture + PPO loop independently of sparse runtime reward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Not evaluated as a policy; training results are an infrastructure verification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989320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CCD6E8"/>
                </a:solidFill>
              </a:rPr>
              <a:t>No-op threshold: |ΔI| &lt; 0.01 AND L1(Δfeatures) &lt; 0.05  (dual threshold handles loop-rotate/licm restructuring without instruction-count change)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CCD6E8"/>
                </a:solidFill>
              </a:rPr>
              <a:t>Auto-TFX + Episode Return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Auto-TFX + Episode Return — Training Curves</a:t>
            </a:r>
          </a:p>
        </p:txBody>
      </p:sp>
      <p:pic>
        <p:nvPicPr>
          <p:cNvPr id="5" name="Picture 4" descr="train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7132320" cy="45096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143000"/>
            <a:ext cx="4297680" cy="521208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Mean speedup: −</a:t>
            </a:r>
            <a:r>
              <a:rPr sz="1500" b="0" i="0">
                <a:solidFill>
                  <a:srgbClr val="FFD75E"/>
                </a:solidFill>
              </a:rPr>
              <a:t>0.40</a:t>
            </a:r>
            <a:r>
              <a:rPr sz="1500" b="0" i="0">
                <a:solidFill>
                  <a:srgbClr val="CCD6E8"/>
                </a:solidFill>
              </a:rPr>
              <a:t> → </a:t>
            </a:r>
            <a:r>
              <a:rPr sz="1500" b="0" i="0">
                <a:solidFill>
                  <a:srgbClr val="FFD75E"/>
                </a:solidFill>
              </a:rPr>
              <a:t>+0.149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Explained Variance → ≈ </a:t>
            </a:r>
            <a:r>
              <a:rPr sz="1500" b="0" i="0">
                <a:solidFill>
                  <a:srgbClr val="FFD75E"/>
                </a:solidFill>
              </a:rPr>
              <a:t>1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Value head learns accurate return predictions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FFD75E"/>
                </a:solidFill>
              </a:rPr>
              <a:t>48</a:t>
            </a:r>
            <a:r>
              <a:rPr sz="1500" b="0" i="0">
                <a:solidFill>
                  <a:srgbClr val="CCD6E8"/>
                </a:solidFill>
              </a:rPr>
              <a:t>-dim delta features sufficient for value function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Entropy: max → ~</a:t>
            </a:r>
            <a:r>
              <a:rPr sz="1500" b="0" i="0">
                <a:solidFill>
                  <a:srgbClr val="FFD75E"/>
                </a:solidFill>
              </a:rPr>
              <a:t>30%</a:t>
            </a:r>
            <a:r>
              <a:rPr sz="1500" b="0" i="0">
                <a:solidFill>
                  <a:srgbClr val="CCD6E8"/>
                </a:solidFill>
              </a:rPr>
              <a:t> of max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Progressive concentration, no collapse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No-op % falls across training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Policy learns to prefer impactful passes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interpreter and kmp_search lead per-function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Consistent with high random-search ceiling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Auto-TFX + Episode Return — Evaluation vs -O3</a:t>
            </a:r>
          </a:p>
        </p:txBody>
      </p:sp>
      <p:pic>
        <p:nvPicPr>
          <p:cNvPr id="5" name="Picture 4" descr="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6858000" cy="33136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143000"/>
            <a:ext cx="4663440" cy="6400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207008"/>
            <a:ext cx="13716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207008"/>
            <a:ext cx="868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rand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207008"/>
            <a:ext cx="777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rand best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207008"/>
            <a:ext cx="7132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greedy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1207008"/>
            <a:ext cx="8229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samp best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819656"/>
            <a:ext cx="4663440" cy="64008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883664"/>
            <a:ext cx="13716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array_red.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883664"/>
            <a:ext cx="868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−0.791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1883664"/>
            <a:ext cx="777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−0.062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883664"/>
            <a:ext cx="7132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+0.092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1883664"/>
            <a:ext cx="8229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+0.104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2496312"/>
            <a:ext cx="466344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560320"/>
            <a:ext cx="13716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binary_tree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560320"/>
            <a:ext cx="868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−0.082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777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+0.082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560320"/>
            <a:ext cx="7132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+0.077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2560320"/>
            <a:ext cx="8229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+0.086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3172968"/>
            <a:ext cx="4663440" cy="64008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236975"/>
            <a:ext cx="13716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fft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236975"/>
            <a:ext cx="868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−0.677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236975"/>
            <a:ext cx="777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−0.002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236975"/>
            <a:ext cx="7132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+0.063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3236975"/>
            <a:ext cx="8229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+0.072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3849624"/>
            <a:ext cx="466344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3913632"/>
            <a:ext cx="13716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interpreter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913632"/>
            <a:ext cx="868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−0.260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913632"/>
            <a:ext cx="777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+0.266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913632"/>
            <a:ext cx="7132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+0.277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3913632"/>
            <a:ext cx="8229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+0.283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4526280"/>
            <a:ext cx="4663440" cy="64008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4590288"/>
            <a:ext cx="13716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kmp_search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590288"/>
            <a:ext cx="868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−0.107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590288"/>
            <a:ext cx="777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+0.191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590288"/>
            <a:ext cx="7132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+0.277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4590288"/>
            <a:ext cx="8229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+0.278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5202936"/>
            <a:ext cx="466344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5266944"/>
            <a:ext cx="13716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poly_eval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5266944"/>
            <a:ext cx="868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−0.181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5266944"/>
            <a:ext cx="777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+0.140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5266944"/>
            <a:ext cx="7132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+0.144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5266944"/>
            <a:ext cx="8229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56D3A0"/>
                </a:solidFill>
              </a:rPr>
              <a:t>+0.145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60920" y="5897880"/>
            <a:ext cx="4663440" cy="658368"/>
          </a:xfrm>
          <a:prstGeom prst="rect">
            <a:avLst/>
          </a:prstGeom>
          <a:solidFill>
            <a:srgbClr val="0A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596188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56D3A0"/>
                </a:solidFill>
              </a:rPr>
              <a:t>Greedy beats -O3 on all 6 functions  ·  mean +15.5%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Benchmarking Harness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4A9EFF"/>
                </a:solidFill>
              </a:rPr>
              <a:t>Benchmarking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394960" cy="210312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FFD75E"/>
                </a:solidFill>
              </a:rPr>
              <a:t>201</a:t>
            </a:r>
            <a:r>
              <a:rPr sz="1400" b="0" i="0">
                <a:solidFill>
                  <a:srgbClr val="CCD6E8"/>
                </a:solidFill>
              </a:rPr>
              <a:t> timed iterations per measurement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  • </a:t>
            </a:r>
            <a:r>
              <a:rPr sz="1400" b="0" i="0">
                <a:solidFill>
                  <a:srgbClr val="FFD75E"/>
                </a:solidFill>
              </a:rPr>
              <a:t>10%</a:t>
            </a:r>
            <a:r>
              <a:rPr sz="1400" b="0" i="0">
                <a:solidFill>
                  <a:srgbClr val="CCD6E8"/>
                </a:solidFill>
              </a:rPr>
              <a:t> trimmed mean — removes </a:t>
            </a:r>
            <a:r>
              <a:rPr sz="1400" b="0" i="0">
                <a:solidFill>
                  <a:srgbClr val="FFD75E"/>
                </a:solidFill>
              </a:rPr>
              <a:t>10</a:t>
            </a:r>
            <a:r>
              <a:rPr sz="1400" b="0" i="0">
                <a:solidFill>
                  <a:srgbClr val="CCD6E8"/>
                </a:solidFill>
              </a:rPr>
              <a:t> outliers each tail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  • </a:t>
            </a:r>
            <a:r>
              <a:rPr sz="1400" b="0" i="0">
                <a:solidFill>
                  <a:srgbClr val="FFD75E"/>
                </a:solidFill>
              </a:rPr>
              <a:t>5</a:t>
            </a:r>
            <a:r>
              <a:rPr sz="1400" b="0" i="0">
                <a:solidFill>
                  <a:srgbClr val="CCD6E8"/>
                </a:solidFill>
              </a:rPr>
              <a:t> warm-up runs before timing begins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CLOCK_MONOTONIC — monotonic wall-clock, nanosecond resolution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Serial baselines collected once under stable single-threaded conditions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Episode collection: parallelised across all CPU cores via Rayon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749039"/>
            <a:ext cx="5394960" cy="24231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803904"/>
            <a:ext cx="5212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56D3A0"/>
                </a:solidFill>
              </a:rPr>
              <a:t>Parallel Noise Characterisation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87952"/>
            <a:ext cx="5212080" cy="182880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</a:t>
            </a:r>
            <a:r>
              <a:rPr sz="1300" b="0" i="0">
                <a:solidFill>
                  <a:srgbClr val="CCD6E8"/>
                </a:solidFill>
              </a:rPr>
              <a:t>bench-noise: run each binary solo then across </a:t>
            </a:r>
            <a:r>
              <a:rPr sz="1300" b="0" i="0">
                <a:solidFill>
                  <a:srgbClr val="FFD75E"/>
                </a:solidFill>
              </a:rPr>
              <a:t>16</a:t>
            </a:r>
            <a:r>
              <a:rPr sz="1300" b="0" i="0">
                <a:solidFill>
                  <a:srgbClr val="CCD6E8"/>
                </a:solidFill>
              </a:rPr>
              <a:t> Rayon workers simultaneously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</a:t>
            </a:r>
            <a:r>
              <a:rPr sz="1300" b="0" i="0">
                <a:solidFill>
                  <a:srgbClr val="CCD6E8"/>
                </a:solidFill>
              </a:rPr>
              <a:t>Parallel overhead: small and consistent across all </a:t>
            </a:r>
            <a:r>
              <a:rPr sz="1300" b="0" i="0">
                <a:solidFill>
                  <a:srgbClr val="FFD75E"/>
                </a:solidFill>
              </a:rPr>
              <a:t>6</a:t>
            </a:r>
            <a:r>
              <a:rPr sz="1300" b="0" i="0">
                <a:solidFill>
                  <a:srgbClr val="CCD6E8"/>
                </a:solidFill>
              </a:rPr>
              <a:t> benchmarks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</a:t>
            </a:r>
            <a:r>
              <a:rPr sz="1300" b="0" i="0">
                <a:solidFill>
                  <a:srgbClr val="CCD6E8"/>
                </a:solidFill>
              </a:rPr>
              <a:t>Noise margin </a:t>
            </a:r>
            <a:r>
              <a:rPr sz="1300" b="0" i="0">
                <a:solidFill>
                  <a:srgbClr val="FFD75E"/>
                </a:solidFill>
              </a:rPr>
              <a:t>1.01</a:t>
            </a:r>
            <a:r>
              <a:rPr sz="1300" b="0" i="0">
                <a:solidFill>
                  <a:srgbClr val="CCD6E8"/>
                </a:solidFill>
              </a:rPr>
              <a:t> on -O</a:t>
            </a:r>
            <a:r>
              <a:rPr sz="1300" b="0" i="0">
                <a:solidFill>
                  <a:srgbClr val="FFD75E"/>
                </a:solidFill>
              </a:rPr>
              <a:t>3</a:t>
            </a:r>
            <a:r>
              <a:rPr sz="1300" b="0" i="0">
                <a:solidFill>
                  <a:srgbClr val="CCD6E8"/>
                </a:solidFill>
              </a:rPr>
              <a:t> baseline during training: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  • </a:t>
            </a:r>
            <a:r>
              <a:rPr sz="1300" b="0" i="0">
                <a:solidFill>
                  <a:srgbClr val="CCD6E8"/>
                </a:solidFill>
              </a:rPr>
              <a:t>Policy must beat -O</a:t>
            </a:r>
            <a:r>
              <a:rPr sz="1300" b="0" i="0">
                <a:solidFill>
                  <a:srgbClr val="FFD75E"/>
                </a:solidFill>
              </a:rPr>
              <a:t>3</a:t>
            </a:r>
            <a:r>
              <a:rPr sz="1300" b="0" i="0">
                <a:solidFill>
                  <a:srgbClr val="CCD6E8"/>
                </a:solidFill>
              </a:rPr>
              <a:t> by &gt; noise floor to receive positive reward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</a:t>
            </a:r>
            <a:r>
              <a:rPr sz="1300" b="0" i="0">
                <a:solidFill>
                  <a:srgbClr val="CCD6E8"/>
                </a:solidFill>
              </a:rPr>
              <a:t>Prevents noise-driven false positives in the reward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1430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4A9EFF"/>
                </a:solidFill>
              </a:rPr>
              <a:t>Reproducibility Verification  (diagnose)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72768"/>
            <a:ext cx="5669280" cy="260604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Problem: training speedups collected under parallel timing noise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diagnose re-benchmarks top sequences serially under controlled conditions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  • </a:t>
            </a:r>
            <a:r>
              <a:rPr sz="1400" b="0" i="0">
                <a:solidFill>
                  <a:srgbClr val="FFD75E"/>
                </a:solidFill>
              </a:rPr>
              <a:t>20</a:t>
            </a:r>
            <a:r>
              <a:rPr sz="1400" b="0" i="0">
                <a:solidFill>
                  <a:srgbClr val="CCD6E8"/>
                </a:solidFill>
              </a:rPr>
              <a:t> independent serial benchmark runs per sequence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  • </a:t>
            </a:r>
            <a:r>
              <a:rPr sz="1400" b="0" i="0">
                <a:solidFill>
                  <a:srgbClr val="CCD6E8"/>
                </a:solidFill>
              </a:rPr>
              <a:t>Reports mean, std, and full distribution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Result: cached training speedups correlate strongly with re-measured values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Per-sequence distributions are tight → reward signal is reproducible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D6E8"/>
                </a:solidFill>
              </a:rPr>
              <a:t>▸ </a:t>
            </a:r>
            <a:r>
              <a:rPr sz="1400" b="0" i="0">
                <a:solidFill>
                  <a:srgbClr val="CCD6E8"/>
                </a:solidFill>
              </a:rPr>
              <a:t>Dominant sequences from interpreter and kmp_search — consistent with EDA ceiling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315968"/>
            <a:ext cx="5669280" cy="233172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507492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555577"/>
                </a:solidFill>
              </a:rPr>
              <a:t>bench_noise-{fft,kmp}.png · diagnose.png
[cargo run -- bench-noise  /  cargo run -- plot-diagnose
 --results checkpoints/auto-tfx-episode-diagnose.json]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394960" cy="530352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Value head (EV ≈ </a:t>
            </a:r>
            <a:r>
              <a:rPr sz="1500" b="0" i="0">
                <a:solidFill>
                  <a:srgbClr val="FFD75E"/>
                </a:solidFill>
              </a:rPr>
              <a:t>1</a:t>
            </a:r>
            <a:r>
              <a:rPr sz="1500" b="0" i="0">
                <a:solidFill>
                  <a:srgbClr val="CCD6E8"/>
                </a:solidFill>
              </a:rPr>
              <a:t>) validates feature representation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FFD75E"/>
                </a:solidFill>
              </a:rPr>
              <a:t>48</a:t>
            </a:r>
            <a:r>
              <a:rPr sz="1500" b="0" i="0">
                <a:solidFill>
                  <a:srgbClr val="CCD6E8"/>
                </a:solidFill>
              </a:rPr>
              <a:t>-dim delta features + action history sufficient to predict speedup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Batch-normalised advantages → ~</a:t>
            </a:r>
            <a:r>
              <a:rPr sz="1500" b="0" i="0">
                <a:solidFill>
                  <a:srgbClr val="FFD75E"/>
                </a:solidFill>
              </a:rPr>
              <a:t>50%</a:t>
            </a:r>
            <a:r>
              <a:rPr sz="1500" b="0" i="0">
                <a:solidFill>
                  <a:srgbClr val="CCD6E8"/>
                </a:solidFill>
              </a:rPr>
              <a:t> reinforce / ~</a:t>
            </a:r>
            <a:r>
              <a:rPr sz="1500" b="0" i="0">
                <a:solidFill>
                  <a:srgbClr val="FFD75E"/>
                </a:solidFill>
              </a:rPr>
              <a:t>50%</a:t>
            </a:r>
            <a:r>
              <a:rPr sz="1500" b="0" i="0">
                <a:solidFill>
                  <a:srgbClr val="CCD6E8"/>
                </a:solidFill>
              </a:rPr>
              <a:t> penalise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Episode return is theoretically clean: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Only externally measured quantity is r; uniform is unbiased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Value function disentangles per-step credit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Instruction-weighted shaping trades bias for lower variance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Total reward conserved; only redistribution changes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Helps value head early when policy makes many no-ops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▸ </a:t>
            </a:r>
            <a:r>
              <a:rPr sz="1500" b="0" i="0">
                <a:solidFill>
                  <a:srgbClr val="CCD6E8"/>
                </a:solidFill>
              </a:rPr>
              <a:t>Transformer vs GRU: complementary memory hypotheses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GRU: recency bias — free inductive prior, low parameter cost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CCD6E8"/>
                </a:solidFill>
              </a:rPr>
              <a:t>  • </a:t>
            </a:r>
            <a:r>
              <a:rPr sz="1500" b="0" i="0">
                <a:solidFill>
                  <a:srgbClr val="CCD6E8"/>
                </a:solidFill>
              </a:rPr>
              <a:t>TFX: non-local attention — learns which step-pairs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43000"/>
            <a:ext cx="5897880" cy="53035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188720"/>
            <a:ext cx="5715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D75E"/>
                </a:solidFill>
              </a:rPr>
              <a:t>Stop-Token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27632"/>
            <a:ext cx="5715000" cy="320040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</a:t>
            </a:r>
            <a:r>
              <a:rPr sz="1300" b="0" i="0">
                <a:solidFill>
                  <a:srgbClr val="CCD6E8"/>
                </a:solidFill>
              </a:rPr>
              <a:t>Policy never learns to Stop early — always uses all K=</a:t>
            </a:r>
            <a:r>
              <a:rPr sz="1300" b="0" i="0">
                <a:solidFill>
                  <a:srgbClr val="FFD75E"/>
                </a:solidFill>
              </a:rPr>
              <a:t>20</a:t>
            </a:r>
            <a:r>
              <a:rPr sz="1300" b="0" i="0">
                <a:solidFill>
                  <a:srgbClr val="CCD6E8"/>
                </a:solidFill>
              </a:rPr>
              <a:t> steps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</a:t>
            </a:r>
            <a:r>
              <a:rPr sz="1300" b="0" i="0">
                <a:solidFill>
                  <a:srgbClr val="CCD6E8"/>
                </a:solidFill>
              </a:rPr>
              <a:t>Rational given credit-assignment structure: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  • </a:t>
            </a:r>
            <a:r>
              <a:rPr sz="1300" b="0" i="0">
                <a:solidFill>
                  <a:srgbClr val="CCD6E8"/>
                </a:solidFill>
              </a:rPr>
              <a:t>Q(Stop) = current speedup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  • </a:t>
            </a:r>
            <a:r>
              <a:rPr sz="1300" b="0" i="0">
                <a:solidFill>
                  <a:srgbClr val="CCD6E8"/>
                </a:solidFill>
              </a:rPr>
              <a:t>Q(any pass) = E[future speedup] — uncertain, possibly higher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</a:t>
            </a:r>
            <a:r>
              <a:rPr sz="1300" b="0" i="0">
                <a:solidFill>
                  <a:srgbClr val="CCD6E8"/>
                </a:solidFill>
              </a:rPr>
              <a:t>No-op penalty helps at the margin but doesn't fix the asymmetry: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  • </a:t>
            </a:r>
            <a:r>
              <a:rPr sz="1300" b="0" i="0">
                <a:solidFill>
                  <a:srgbClr val="CCD6E8"/>
                </a:solidFill>
              </a:rPr>
              <a:t>Cost of stopping: unbounded foregone gain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  • </a:t>
            </a:r>
            <a:r>
              <a:rPr sz="1300" b="0" i="0">
                <a:solidFill>
                  <a:srgbClr val="CCD6E8"/>
                </a:solidFill>
              </a:rPr>
              <a:t>Cost of one more pass: at most p = </a:t>
            </a:r>
            <a:r>
              <a:rPr sz="1300" b="0" i="0">
                <a:solidFill>
                  <a:srgbClr val="FFD75E"/>
                </a:solidFill>
              </a:rPr>
              <a:t>0.025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</a:t>
            </a:r>
            <a:r>
              <a:rPr sz="1300" b="0" i="0">
                <a:solidFill>
                  <a:srgbClr val="CCD6E8"/>
                </a:solidFill>
              </a:rPr>
              <a:t>Many top sequences: </a:t>
            </a:r>
            <a:r>
              <a:rPr sz="1300" b="0" i="0">
                <a:solidFill>
                  <a:srgbClr val="FFD75E"/>
                </a:solidFill>
              </a:rPr>
              <a:t>5</a:t>
            </a:r>
            <a:r>
              <a:rPr sz="1300" b="0" i="0">
                <a:solidFill>
                  <a:srgbClr val="CCD6E8"/>
                </a:solidFill>
              </a:rPr>
              <a:t>–</a:t>
            </a:r>
            <a:r>
              <a:rPr sz="1300" b="0" i="0">
                <a:solidFill>
                  <a:srgbClr val="FFD75E"/>
                </a:solidFill>
              </a:rPr>
              <a:t>7</a:t>
            </a:r>
            <a:r>
              <a:rPr sz="1300" b="0" i="0">
                <a:solidFill>
                  <a:srgbClr val="CCD6E8"/>
                </a:solidFill>
              </a:rPr>
              <a:t> repetitions of dominant pass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  • </a:t>
            </a:r>
            <a:r>
              <a:rPr sz="1300" b="0" i="0">
                <a:solidFill>
                  <a:srgbClr val="CCD6E8"/>
                </a:solidFill>
              </a:rPr>
              <a:t>Repeating is safe and occasionally lucky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937760"/>
            <a:ext cx="57150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56D3A0"/>
                </a:solidFill>
              </a:rPr>
              <a:t>Potential Fix: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5321808"/>
            <a:ext cx="5715000" cy="82296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CD6E8"/>
                </a:solidFill>
              </a:rPr>
              <a:t>▸ </a:t>
            </a:r>
            <a:r>
              <a:rPr sz="1300" b="0" i="0">
                <a:solidFill>
                  <a:srgbClr val="CCD6E8"/>
                </a:solidFill>
              </a:rPr>
              <a:t>Per-step length cost, or Stop bonus ≥ E[marginal return from one more pass]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394960" cy="256032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▸ </a:t>
            </a:r>
            <a:r>
              <a:rPr sz="1600" b="0" i="0">
                <a:solidFill>
                  <a:srgbClr val="CCD6E8"/>
                </a:solidFill>
              </a:rPr>
              <a:t>Limitations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Benchmark timing noise limits per-episode credit precision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Training set of </a:t>
            </a:r>
            <a:r>
              <a:rPr sz="1600" b="0" i="0">
                <a:solidFill>
                  <a:srgbClr val="FFD75E"/>
                </a:solidFill>
              </a:rPr>
              <a:t>6</a:t>
            </a:r>
            <a:r>
              <a:rPr sz="1600" b="0" i="0">
                <a:solidFill>
                  <a:srgbClr val="CCD6E8"/>
                </a:solidFill>
              </a:rPr>
              <a:t> functions is small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Pass parameters not tuned (loop-unroll count always default)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Effective horizon = K; Stop token unused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931920"/>
            <a:ext cx="5394960" cy="256032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▸ </a:t>
            </a:r>
            <a:r>
              <a:rPr sz="1600" b="0" i="0">
                <a:solidFill>
                  <a:srgbClr val="CCD6E8"/>
                </a:solidFill>
              </a:rPr>
              <a:t>Ongoing Work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Architecture comparison: Auto-GRU vs Auto-TFX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Return comparison: episode vs instruction-weighted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Hold-out pool evaluation on all </a:t>
            </a:r>
            <a:r>
              <a:rPr sz="1600" b="0" i="0">
                <a:solidFill>
                  <a:srgbClr val="FFD75E"/>
                </a:solidFill>
              </a:rPr>
              <a:t>38</a:t>
            </a:r>
            <a:r>
              <a:rPr sz="1600" b="0" i="0">
                <a:solidFill>
                  <a:srgbClr val="CCD6E8"/>
                </a:solidFill>
              </a:rPr>
              <a:t>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143000"/>
            <a:ext cx="5897880" cy="521208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▸ </a:t>
            </a:r>
            <a:r>
              <a:rPr sz="1600" b="0" i="0">
                <a:solidFill>
                  <a:srgbClr val="CCD6E8"/>
                </a:solidFill>
              </a:rPr>
              <a:t>Future Directions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Per-step length cost or Stop bonus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Extend pass menu to cover more LLVM </a:t>
            </a:r>
            <a:r>
              <a:rPr sz="1600" b="0" i="0">
                <a:solidFill>
                  <a:srgbClr val="FFD75E"/>
                </a:solidFill>
              </a:rPr>
              <a:t>20</a:t>
            </a:r>
            <a:r>
              <a:rPr sz="1600" b="0" i="0">
                <a:solidFill>
                  <a:srgbClr val="CCD6E8"/>
                </a:solidFill>
              </a:rPr>
              <a:t> transforms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Transfer to larger, real-world C/C++ programs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Beam search or MCTS at inference time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Combine offline bench-cache with online RL updates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Pass hyperparameter tuning as part of the action space</a:t>
            </a:r>
          </a:p>
          <a:p>
            <a:pPr lvl="1">
              <a:spcAft>
                <a:spcPts val="300"/>
              </a:spcAft>
            </a:pPr>
            <a:r>
              <a:rPr sz="1600">
                <a:solidFill>
                  <a:srgbClr val="CCD6E8"/>
                </a:solidFill>
              </a:rPr>
              <a:t>  • </a:t>
            </a:r>
            <a:r>
              <a:rPr sz="1600" b="0" i="0">
                <a:solidFill>
                  <a:srgbClr val="CCD6E8"/>
                </a:solidFill>
              </a:rPr>
              <a:t>Cross-architecture generalisation (ARM, RISC-V)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234440"/>
            <a:ext cx="11430000" cy="0"/>
          </a:xfrm>
          <a:prstGeom prst="line">
            <a:avLst/>
          </a:prstGeom>
          <a:ln w="1270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89888"/>
            <a:ext cx="10972800" cy="4663440"/>
          </a:xfrm>
          <a:prstGeom prst="rect">
            <a:avLst/>
          </a:prstGeom>
          <a:noFill/>
        </p:spPr>
        <p:txBody>
          <a:bodyPr wrap="none"/>
          <a:lstStyle/>
          <a:p>
            <a:pPr>
              <a:spcAft>
                <a:spcPts val="300"/>
              </a:spcAft>
            </a:pPr>
            <a:r>
              <a:rPr sz="1700">
                <a:solidFill>
                  <a:srgbClr val="FFFFFF"/>
                </a:solidFill>
              </a:rPr>
              <a:t>▸ </a:t>
            </a:r>
            <a:r>
              <a:rPr sz="1700" b="0" i="0">
                <a:solidFill>
                  <a:srgbClr val="FFFFFF"/>
                </a:solidFill>
              </a:rPr>
              <a:t>Autoregressive RL policies learn to beat -O</a:t>
            </a:r>
            <a:r>
              <a:rPr sz="1700" b="0" i="0">
                <a:solidFill>
                  <a:srgbClr val="FFD75E"/>
                </a:solidFill>
              </a:rPr>
              <a:t>3</a:t>
            </a:r>
            <a:r>
              <a:rPr sz="1700" b="0" i="0">
                <a:solidFill>
                  <a:srgbClr val="FFFFFF"/>
                </a:solidFill>
              </a:rPr>
              <a:t> on every training benchmark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FFFFFF"/>
                </a:solidFill>
              </a:rPr>
              <a:t>  • </a:t>
            </a:r>
            <a:r>
              <a:rPr sz="1700" b="0" i="0">
                <a:solidFill>
                  <a:srgbClr val="FFFFFF"/>
                </a:solidFill>
              </a:rPr>
              <a:t>Auto-TFX + episode return: </a:t>
            </a:r>
            <a:r>
              <a:rPr sz="1700" b="0" i="0">
                <a:solidFill>
                  <a:srgbClr val="FFD75E"/>
                </a:solidFill>
              </a:rPr>
              <a:t>6</a:t>
            </a:r>
            <a:r>
              <a:rPr sz="1700" b="0" i="0">
                <a:solidFill>
                  <a:srgbClr val="FFFFFF"/>
                </a:solidFill>
              </a:rPr>
              <a:t>–</a:t>
            </a:r>
            <a:r>
              <a:rPr sz="1700" b="0" i="0">
                <a:solidFill>
                  <a:srgbClr val="FFD75E"/>
                </a:solidFill>
              </a:rPr>
              <a:t>28%</a:t>
            </a:r>
            <a:r>
              <a:rPr sz="1700" b="0" i="0">
                <a:solidFill>
                  <a:srgbClr val="FFFFFF"/>
                </a:solidFill>
              </a:rPr>
              <a:t> speedup, mean </a:t>
            </a:r>
            <a:r>
              <a:rPr sz="1700" b="0" i="0">
                <a:solidFill>
                  <a:srgbClr val="FFD75E"/>
                </a:solidFill>
              </a:rPr>
              <a:t>15.5%</a:t>
            </a:r>
            <a:r>
              <a:rPr sz="1700" b="0" i="0">
                <a:solidFill>
                  <a:srgbClr val="FFFFFF"/>
                </a:solidFill>
              </a:rPr>
              <a:t> across </a:t>
            </a:r>
            <a:r>
              <a:rPr sz="1700" b="0" i="0">
                <a:solidFill>
                  <a:srgbClr val="FFD75E"/>
                </a:solidFill>
              </a:rPr>
              <a:t>6</a:t>
            </a:r>
            <a:r>
              <a:rPr sz="1700" b="0" i="0">
                <a:solidFill>
                  <a:srgbClr val="FFFFFF"/>
                </a:solidFill>
              </a:rPr>
              <a:t> functions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FFFFFF"/>
                </a:solidFill>
              </a:rPr>
              <a:t>▸ </a:t>
            </a:r>
            <a:r>
              <a:rPr sz="1700" b="0" i="0">
                <a:solidFill>
                  <a:srgbClr val="FFFFFF"/>
                </a:solidFill>
              </a:rPr>
              <a:t>Explained Variance ≈ </a:t>
            </a:r>
            <a:r>
              <a:rPr sz="1700" b="0" i="0">
                <a:solidFill>
                  <a:srgbClr val="FFD75E"/>
                </a:solidFill>
              </a:rPr>
              <a:t>1</a:t>
            </a:r>
            <a:r>
              <a:rPr sz="1700" b="0" i="0">
                <a:solidFill>
                  <a:srgbClr val="FFFFFF"/>
                </a:solidFill>
              </a:rPr>
              <a:t> confirms the IR delta representation and learned value baseline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FFFFFF"/>
                </a:solidFill>
              </a:rPr>
              <a:t>  • </a:t>
            </a:r>
            <a:r>
              <a:rPr sz="1700" b="0" i="0">
                <a:solidFill>
                  <a:srgbClr val="FFD75E"/>
                </a:solidFill>
              </a:rPr>
              <a:t>48</a:t>
            </a:r>
            <a:r>
              <a:rPr sz="1700" b="0" i="0">
                <a:solidFill>
                  <a:srgbClr val="FFFFFF"/>
                </a:solidFill>
              </a:rPr>
              <a:t>-dim delta features + action history are sufficient to predict terminal speedup per-step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FFFFFF"/>
                </a:solidFill>
              </a:rPr>
              <a:t>▸ </a:t>
            </a:r>
            <a:r>
              <a:rPr sz="1700" b="0" i="0">
                <a:solidFill>
                  <a:srgbClr val="FFFFFF"/>
                </a:solidFill>
              </a:rPr>
              <a:t>Two architectures (Auto-GRU, Auto-TFX) × two return formulations provide systematic comparison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FFFFFF"/>
                </a:solidFill>
              </a:rPr>
              <a:t>▸ </a:t>
            </a:r>
            <a:r>
              <a:rPr sz="1700" b="0" i="0">
                <a:solidFill>
                  <a:srgbClr val="FFFFFF"/>
                </a:solidFill>
              </a:rPr>
              <a:t>Stop-token analysis reveals a structural incentive to exhaust the horizon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FFFFFF"/>
                </a:solidFill>
              </a:rPr>
              <a:t>  • </a:t>
            </a:r>
            <a:r>
              <a:rPr sz="1700" b="0" i="0">
                <a:solidFill>
                  <a:srgbClr val="FFFFFF"/>
                </a:solidFill>
              </a:rPr>
              <a:t>Rational response to terminal reward + unbounded expected future gain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FFFFFF"/>
                </a:solidFill>
              </a:rPr>
              <a:t>  • </a:t>
            </a:r>
            <a:r>
              <a:rPr sz="1700" b="0" i="0">
                <a:solidFill>
                  <a:srgbClr val="FFFFFF"/>
                </a:solidFill>
              </a:rPr>
              <a:t>Design fix: per-step length cost or Stop bonus calibrated to marginal return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FFFFFF"/>
                </a:solidFill>
              </a:rPr>
              <a:t>▸ </a:t>
            </a:r>
            <a:r>
              <a:rPr sz="1700" b="0" i="0">
                <a:solidFill>
                  <a:srgbClr val="FFFFFF"/>
                </a:solidFill>
              </a:rPr>
              <a:t>Key insight: IR state must capture structural position within the function body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FFFFFF"/>
                </a:solidFill>
              </a:rPr>
              <a:t>  • </a:t>
            </a:r>
            <a:r>
              <a:rPr sz="1700" b="0" i="0">
                <a:solidFill>
                  <a:srgbClr val="FFFFFF"/>
                </a:solidFill>
              </a:rPr>
              <a:t>Delta representation encodes how instruction composition shifts across positional chunks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FFFFFF"/>
                </a:solidFill>
              </a:rPr>
              <a:t>  • </a:t>
            </a:r>
            <a:r>
              <a:rPr sz="1700" b="0" i="0">
                <a:solidFill>
                  <a:srgbClr val="FFFFFF"/>
                </a:solidFill>
              </a:rPr>
              <a:t>Structural changes like loop-rotate and licm are invisible to global count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8"/>
                </a:solidFill>
              </a:rPr>
              <a:t>Learning LLVM Pass Sequences via Reinforcement Learning with Autoregressive Policies  ·  Evan Black  ·  ODU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